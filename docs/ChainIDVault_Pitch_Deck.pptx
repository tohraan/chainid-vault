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 i="0">
                <a:solidFill>
                  <a:srgbClr val="FFFFFF"/>
                </a:solidFill>
                <a:latin typeface="Arial"/>
              </a:rPr>
              <a:t>ChainID Vault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54680"/>
            <a:ext cx="1463040" cy="64008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74720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0" i="0">
                <a:solidFill>
                  <a:srgbClr val="D6D3CD"/>
                </a:solidFill>
                <a:latin typeface="Arial"/>
              </a:rPr>
              <a:t>Anyone can prove who controls an asset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0" i="0">
                <a:solidFill>
                  <a:srgbClr val="D6D3CD"/>
                </a:solidFill>
                <a:latin typeface="Arial"/>
              </a:rPr>
              <a:t>without trusting whoever runs the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029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FCBD31"/>
                </a:solidFill>
                <a:latin typeface="Arial"/>
              </a:rPr>
              <a:t>SIH26125  ·  Bharat Electronics Limited  ·  Blockchain &amp; Cybersecurity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A3A099"/>
                </a:solidFill>
                <a:latin typeface="Arial"/>
              </a:rPr>
              <a:t>Smart India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1 · START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Everyone here has already used this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A gate. A guard. A card. It works — until it doesn't.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5120640" cy="329184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B6862"/>
                </a:solidFill>
                <a:latin typeface="Arial"/>
              </a:rPr>
              <a:t>AT A UNIVERSITY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Who are you?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3580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The guard looks at your card.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8444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Should you be 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87705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He checks you against a 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4256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Did anyone record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1830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He writes your name in a register.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148840"/>
            <a:ext cx="5349240" cy="329184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C1C1C"/>
                </a:solidFill>
                <a:latin typeface="Arial"/>
              </a:rPr>
              <a:t>WHERE IT QUIETLY FAILS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157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The card is not the 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97180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Borrowed, cloned, or simply held by someone else.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374135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He waves through the face he knows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3016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 rule stops being checked. It becomes memory.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03250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The graduate's card still opens the 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28853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They left last year. Nobody told the gate.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69087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The register is the guard's own notebook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94690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 record is kept by the person it would hold accountable.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6235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C1B1A"/>
                </a:solidFill>
                <a:latin typeface="Arial"/>
              </a:rPr>
              <a:t>Nobody at that gate is doing anything wrong. The system is simply built on trust rather than proof.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Hold this picture. Every problem in the next ten minutes is this gate, with higher stakes.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1 · THE REAL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Now the gate is a defence facility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Same three checks. Same failure modes. Consequences that do not stay on campus.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83564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31136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CBD31"/>
                </a:solidFill>
                <a:latin typeface="Arial"/>
              </a:rPr>
              <a:t>THE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231136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AT THE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31136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AT A DEFENCE FACILITY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32888"/>
            <a:ext cx="10835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C1B1A"/>
                </a:solidFill>
                <a:latin typeface="Arial"/>
              </a:rPr>
              <a:t>Who are you?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734056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6B6862"/>
                </a:solidFill>
                <a:latin typeface="Arial"/>
              </a:rPr>
              <a:t>Student ID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73405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A contractor's credentials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91256"/>
            <a:ext cx="10835640" cy="65836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74136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C1B1A"/>
                </a:solidFill>
                <a:latin typeface="Arial"/>
              </a:rPr>
              <a:t>Should you be here?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392424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6B6862"/>
                </a:solidFill>
                <a:latin typeface="Arial"/>
              </a:rPr>
              <a:t>On the guard's 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39242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Cleared for this equipment, today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849624"/>
            <a:ext cx="10835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32504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C1B1A"/>
                </a:solidFill>
                <a:latin typeface="Arial"/>
              </a:rPr>
              <a:t>Did anyone record it?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050791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6B6862"/>
                </a:solidFill>
                <a:latin typeface="Arial"/>
              </a:rPr>
              <a:t>A notebook at the 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050791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The custody record for controlled equipment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07992"/>
            <a:ext cx="10835640" cy="65836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9087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C1B1A"/>
                </a:solidFill>
                <a:latin typeface="Arial"/>
              </a:rPr>
              <a:t>What if they left?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4709159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6B6862"/>
                </a:solidFill>
                <a:latin typeface="Arial"/>
              </a:rPr>
              <a:t>Card still opens the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70915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BC1C1C"/>
                </a:solidFill>
                <a:latin typeface="Arial"/>
              </a:rPr>
              <a:t>Assets still issued in their name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394959"/>
            <a:ext cx="10835640" cy="8686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568696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The last row is the one that costs money. Access gets removed on someone's last day.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The equipment they were holding does not remove itself.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1 · THE REAL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The problem is not missing data. It is that no record outranks another.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Three systems, three answers, and no way to settle which one is right.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33832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04872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C1B1A"/>
                </a:solidFill>
                <a:latin typeface="Arial"/>
              </a:rPr>
              <a:t>IDENTITY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7919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6B6862"/>
                </a:solidFill>
                <a:latin typeface="Arial"/>
              </a:rPr>
              <a:t>says the person is valid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194560" y="3337560"/>
            <a:ext cx="320040" cy="182880"/>
          </a:xfrm>
          <a:prstGeom prst="down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194560"/>
            <a:ext cx="33832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04872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C1B1A"/>
                </a:solidFill>
                <a:latin typeface="Arial"/>
              </a:rPr>
              <a:t>ASSET 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7919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6B6862"/>
                </a:solidFill>
                <a:latin typeface="Arial"/>
              </a:rPr>
              <a:t>says who holds the item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897879" y="3337560"/>
            <a:ext cx="320040" cy="182880"/>
          </a:xfrm>
          <a:prstGeom prst="down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2194560"/>
            <a:ext cx="33832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404872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C1B1A"/>
                </a:solidFill>
                <a:latin typeface="Arial"/>
              </a:rPr>
              <a:t>THE PAPERWORK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7919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6B6862"/>
                </a:solidFill>
                <a:latin typeface="Arial"/>
              </a:rPr>
              <a:t>says something else again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601200" y="3337560"/>
            <a:ext cx="320040" cy="182880"/>
          </a:xfrm>
          <a:prstGeom prst="down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657600"/>
            <a:ext cx="1083564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4048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All three are maintained by the same organisation.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663440"/>
            <a:ext cx="10835640" cy="105156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873752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600" b="1" i="0">
                <a:solidFill>
                  <a:srgbClr val="BC1C1C"/>
                </a:solidFill>
                <a:latin typeface="Arial"/>
              </a:rPr>
              <a:t>And the log that would show a record was altered is stored by the same system that would have altered it.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600" b="1" i="0">
                <a:solidFill>
                  <a:srgbClr val="BC1C1C"/>
                </a:solidFill>
                <a:latin typeface="Arial"/>
              </a:rPr>
              <a:t>When the party who creates the record also controls it, nobody outside can verify anything.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This is the sentence the whole pitch turns on. Say it slowly.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2 · THE STAKES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₹1,237 crore of stores nobody could reconcile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766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600" b="1" i="0">
                <a:solidFill>
                  <a:srgbClr val="BC1C1C"/>
                </a:solidFill>
                <a:latin typeface="Arial"/>
              </a:rPr>
              <a:t>₹1,237 crore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800" b="0" i="0">
                <a:solidFill>
                  <a:srgbClr val="1C1B1A"/>
                </a:solidFill>
                <a:latin typeface="Arial"/>
              </a:rPr>
              <a:t>of the Ordnance Factory Board's stores were non-active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800" b="0" i="0">
                <a:solidFill>
                  <a:srgbClr val="1C1B1A"/>
                </a:solidFill>
                <a:latin typeface="Arial"/>
              </a:rPr>
              <a:t>not moving, surplus, or obsolete. Out of ₹6,172 crore held.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6862"/>
                </a:solidFill>
                <a:latin typeface="Arial"/>
              </a:rPr>
              <a:t>CAG Audit Report No. 10 of 2024, Government of India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480560"/>
            <a:ext cx="6766560" cy="8686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5429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Holding time rose from 214 days of consumption to 344.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After corporatisation, CAG went back: 21% still non-active in 2023.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920240"/>
            <a:ext cx="3794760" cy="342900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1488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C1C1C"/>
                </a:solidFill>
                <a:latin typeface="Arial"/>
              </a:rPr>
              <a:t>WHAT WE ARE NOT SAYING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496312"/>
            <a:ext cx="3337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We are not claiming a blockchain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would have recovered that money.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We cannot prove that, so we will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not say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7947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C1C1C"/>
                </a:solidFill>
                <a:latin typeface="Arial"/>
              </a:rPr>
              <a:t>WHAT IT DOES SHOW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142232"/>
            <a:ext cx="3337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This is what it looks like when an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organisation can no longer reconcile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its own custody records.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That is a verification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Documented external problem — not a claim about our system.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2 ·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The old approach was given a decade, and the gap did not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Reorganising the institution did not fix a problem that lives in the records.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2514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6862"/>
                </a:solidFill>
                <a:latin typeface="Arial"/>
              </a:rPr>
              <a:t>2016-17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Stores held 214 days of consumption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64408" y="3017520"/>
            <a:ext cx="274320" cy="164592"/>
          </a:xfrm>
          <a:prstGeom prst="right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240280"/>
            <a:ext cx="2514600" cy="173736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C1C1C"/>
                </a:solidFill>
                <a:latin typeface="Arial"/>
              </a:rPr>
              <a:t>2020-21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Risen to 344 days. ₹1,237 crore non-active.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53327" y="3017520"/>
            <a:ext cx="274320" cy="164592"/>
          </a:xfrm>
          <a:prstGeom prst="right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240280"/>
            <a:ext cx="2514600" cy="1737360"/>
          </a:xfrm>
          <a:prstGeom prst="rect">
            <a:avLst/>
          </a:prstGeom>
          <a:solidFill>
            <a:srgbClr val="FDF3E0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45309"/>
                </a:solidFill>
                <a:latin typeface="Arial"/>
              </a:rPr>
              <a:t>Oct 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OFB corporatised into seven defence PSUs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42248" y="3017520"/>
            <a:ext cx="274320" cy="164592"/>
          </a:xfrm>
          <a:prstGeom prst="right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52559" y="2240280"/>
            <a:ext cx="2514600" cy="173736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C1C1C"/>
                </a:solidFill>
                <a:latin typeface="Arial"/>
              </a:rPr>
              <a:t>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CAG returns. 21% of sampled stores still non-active.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297680"/>
            <a:ext cx="10835640" cy="960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10332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More contractors, more sites, more handoffs between separate entities — and the same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records that could not be reconciled before.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BC1C1C"/>
                </a:solidFill>
                <a:latin typeface="Arial"/>
              </a:rPr>
              <a:t>The problem was never the warehouse. It was that no party could prove which record was correct.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2 · 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Every critical action comes down to 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10835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109728" cy="1207008"/>
          </a:xfrm>
          <a:prstGeom prst="rect">
            <a:avLst/>
          </a:prstGeom>
          <a:solidFill>
            <a:srgbClr val="3B8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67128"/>
            <a:ext cx="6858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C1B1A"/>
                </a:solidFill>
                <a:latin typeface="Arial"/>
              </a:rPr>
              <a:t>WHO ARE YOU?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9191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862"/>
                </a:solidFill>
                <a:latin typeface="Arial"/>
              </a:rPr>
              <a:t>Is this a real, currently valid person — not just a card?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35000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 i="0">
                <a:solidFill>
                  <a:srgbClr val="3B8FD9"/>
                </a:solidFill>
                <a:latin typeface="Arial"/>
              </a:rPr>
              <a:t>Identity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19272"/>
            <a:ext cx="10835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319272"/>
            <a:ext cx="109728" cy="1207008"/>
          </a:xfrm>
          <a:prstGeom prst="rect">
            <a:avLst/>
          </a:prstGeom>
          <a:solidFill>
            <a:srgbClr val="C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20440"/>
            <a:ext cx="6858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C1B1A"/>
                </a:solidFill>
                <a:latin typeface="Arial"/>
              </a:rPr>
              <a:t>WHAT ARE YOU ALLOWED TO DO?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032504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862"/>
                </a:solidFill>
                <a:latin typeface="Arial"/>
              </a:rPr>
              <a:t>Being known is not the same as being allowed.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703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 i="0">
                <a:solidFill>
                  <a:srgbClr val="C98A2E"/>
                </a:solidFill>
                <a:latin typeface="Arial"/>
              </a:rPr>
              <a:t>Permission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672583"/>
            <a:ext cx="10835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672583"/>
            <a:ext cx="109728" cy="120700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873751"/>
            <a:ext cx="6858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C1B1A"/>
                </a:solidFill>
                <a:latin typeface="Arial"/>
              </a:rPr>
              <a:t>CAN ANYONE PROVE WHAT HAPPENED?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385816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862"/>
                </a:solidFill>
                <a:latin typeface="Arial"/>
              </a:rPr>
              <a:t>Afterwards, can an outsider check it — and see if it changed?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5056631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 i="0">
                <a:solidFill>
                  <a:srgbClr val="2E9E5B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135624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C1B1A"/>
                </a:solidFill>
                <a:latin typeface="Arial"/>
              </a:rPr>
              <a:t>Miss any one and the action cannot be trusted. We built ChainID Vault around exactly these three.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 gate answered all three badly. So does most enterprise software.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3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ChainID Vault: verify the identity, enforce the permission, prove the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1083564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Anyone can prove who controls an asset — without trusting whoever runs the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15468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154680"/>
            <a:ext cx="3520440" cy="91440"/>
          </a:xfrm>
          <a:prstGeom prst="rect">
            <a:avLst/>
          </a:prstGeom>
          <a:solidFill>
            <a:srgbClr val="3B8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41071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B8FD9"/>
                </a:solidFill>
                <a:latin typeface="Arial"/>
              </a:rPr>
              <a:t>VERIFY THE 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7764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Not that a record exists — that this person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controls it, and that it is active right now.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15468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3154680"/>
            <a:ext cx="3520440" cy="91440"/>
          </a:xfrm>
          <a:prstGeom prst="rect">
            <a:avLst/>
          </a:prstGeom>
          <a:solidFill>
            <a:srgbClr val="C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41071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8A2E"/>
                </a:solidFill>
                <a:latin typeface="Arial"/>
              </a:rPr>
              <a:t>ENFORCE THE PERMISSION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764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The rule is applied every time, automatically.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Nobody has to remember to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315468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3154680"/>
            <a:ext cx="3520440" cy="914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341071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PROVE THE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37764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The record can be checked by someone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outside the organisation entirely.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074920"/>
            <a:ext cx="10835640" cy="56692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21224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6B6862"/>
                </a:solidFill>
                <a:latin typeface="Arial"/>
              </a:rPr>
              <a:t>Notice what we have not mentioned yet: any technology at all.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3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What happens the moment somebody 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The diagram follows the action, not the components.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1691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Someone 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Issue this equipment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to this person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8600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68880" y="2331720"/>
            <a:ext cx="1691640" cy="1828800"/>
          </a:xfrm>
          <a:prstGeom prst="rect">
            <a:avLst/>
          </a:prstGeom>
          <a:solidFill>
            <a:srgbClr val="EAF3FB"/>
          </a:solidFill>
          <a:ln w="12700">
            <a:solidFill>
              <a:srgbClr val="3B8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Is the identity active?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Not 'did it ever exist'.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Active right now.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0624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331720"/>
            <a:ext cx="1691640" cy="1828800"/>
          </a:xfrm>
          <a:prstGeom prst="rect">
            <a:avLst/>
          </a:prstGeom>
          <a:solidFill>
            <a:srgbClr val="FDF3E0"/>
          </a:solidFill>
          <a:ln w="12700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Is this allowed?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Does this identity hold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this permission?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2648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331720"/>
            <a:ext cx="1691640" cy="1828800"/>
          </a:xfrm>
          <a:prstGeom prst="rect">
            <a:avLst/>
          </a:prstGeom>
          <a:solidFill>
            <a:srgbClr val="F2F1EE"/>
          </a:solidFill>
          <a:ln w="12700">
            <a:solidFill>
              <a:srgbClr val="1C1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Refuse or allow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Automatic. Nobody has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to remember to check.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4672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331720"/>
            <a:ext cx="1691640" cy="182880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Record created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 receipt of what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actually happened.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96696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49840" y="2331720"/>
            <a:ext cx="1691640" cy="182880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8700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Anyone can 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Including people outside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the organisation.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11109960" cy="77724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59943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If either check fails, the action does not happen. Not a warning, not a note in a log for somebody to find later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the action does not happen.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367528"/>
            <a:ext cx="11109960" cy="56692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13831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0" i="0">
                <a:solidFill>
                  <a:srgbClr val="1C1B1A"/>
                </a:solidFill>
                <a:latin typeface="Arial"/>
              </a:rPr>
              <a:t>Only the last two steps need anything unusual. That is where our technology choice matters — and nowhere else.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3 · THE TECHNOLOGY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Blockchain is where we keep the proof, not the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One job, precisely defined. We are not claiming it is better at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835640" cy="8686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1343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A database is excellent at storing and managing information. But for records that must survive a dispute, the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question is different: can the organisation that changes the record also rewrite its history, undetected?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00400"/>
            <a:ext cx="3520440" cy="2743200"/>
          </a:xfrm>
          <a:prstGeom prst="rect">
            <a:avLst/>
          </a:prstGeom>
          <a:solidFill>
            <a:srgbClr val="EAF3FB"/>
          </a:solidFill>
          <a:ln w="12700">
            <a:solidFill>
              <a:srgbClr val="3B8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1071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B8FD9"/>
                </a:solidFill>
                <a:latin typeface="Arial"/>
              </a:rPr>
              <a:t>STAYS WHERE IT ALREADY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764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Personnel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873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Equipment spec sheets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9826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Custody paperwork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091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Calibration certificates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We are not asking anyone to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move their documents anywhere.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200400"/>
            <a:ext cx="3520440" cy="2743200"/>
          </a:xfrm>
          <a:prstGeom prst="rect">
            <a:avLst/>
          </a:prstGeom>
          <a:solidFill>
            <a:srgbClr val="FDF3E0"/>
          </a:solidFill>
          <a:ln w="12700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41071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98A2E"/>
                </a:solidFill>
                <a:latin typeface="Arial"/>
              </a:rPr>
              <a:t>THE BRIDGE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7764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A digital fingerprint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873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of each document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25780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Change one character and the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fingerprint no longer matches.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200400"/>
            <a:ext cx="3520440" cy="274320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41071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9E5B"/>
                </a:solidFill>
                <a:latin typeface="Arial"/>
              </a:rPr>
              <a:t>ON THE 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7764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Who is a valid identity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0873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What each one may 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39826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Every asset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7091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Every status change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25780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Small, and the only part that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must be tamper-evident.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279392" y="4434840"/>
            <a:ext cx="256032" cy="164592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7982712" y="4434840"/>
            <a:ext cx="256032" cy="164592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Runs today on a local chain. The deployment target is a permissioned network such as Hyperledger Besu.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4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Watch the system refuse something it should refuse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The contractor from slide 3. Engagement ended, identity revoked.</a:t>
            </a:r>
          </a:p>
        </p:txBody>
      </p:sp>
      <p:pic>
        <p:nvPicPr>
          <p:cNvPr id="7" name="Picture 6" descr="08-rejection.png"/>
          <p:cNvPicPr>
            <a:picLocks noChangeAspect="1"/>
          </p:cNvPicPr>
          <p:nvPr/>
        </p:nvPicPr>
        <p:blipFill>
          <a:blip r:embed="rId2"/>
          <a:srcRect b="45000"/>
          <a:stretch>
            <a:fillRect/>
          </a:stretch>
        </p:blipFill>
        <p:spPr>
          <a:xfrm>
            <a:off x="685800" y="2194560"/>
            <a:ext cx="6858000" cy="2788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94560"/>
            <a:ext cx="6858000" cy="2788920"/>
          </a:xfrm>
          <a:prstGeom prst="rect">
            <a:avLst/>
          </a:prstGeom>
          <a:noFill/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2194560"/>
            <a:ext cx="3749039" cy="2788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242316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CBD31"/>
                </a:solidFill>
                <a:latin typeface="Arial"/>
              </a:rPr>
              <a:t>WHAT JUST HAPPENED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2770632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An administrator tried to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issue equipment to them.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342900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1" i="0">
                <a:solidFill>
                  <a:srgbClr val="FCBD31"/>
                </a:solidFill>
                <a:latin typeface="Arial"/>
              </a:rPr>
              <a:t>The system refused.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4087368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Not a warning. Not a note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in a log. It did not happen.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470916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CBD31"/>
                </a:solidFill>
                <a:latin typeface="Arial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120640"/>
            <a:ext cx="10835640" cy="91440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303520"/>
            <a:ext cx="10332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The account that just tried holds every privilege in this system. It created that identity. It issued the original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equipment. It still cannot do this. A database administrator can always override the database. Here, nobody can.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Pause here. Let it sit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4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Now watch it allow something it should allow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Same action. Active identity, correct permission.</a:t>
            </a:r>
          </a:p>
        </p:txBody>
      </p:sp>
      <p:pic>
        <p:nvPicPr>
          <p:cNvPr id="7" name="Picture 6" descr="06-verify-authentic.png"/>
          <p:cNvPicPr>
            <a:picLocks noChangeAspect="1"/>
          </p:cNvPicPr>
          <p:nvPr/>
        </p:nvPicPr>
        <p:blipFill>
          <a:blip r:embed="rId2"/>
          <a:srcRect b="32000"/>
          <a:stretch>
            <a:fillRect/>
          </a:stretch>
        </p:blipFill>
        <p:spPr>
          <a:xfrm>
            <a:off x="685800" y="2194560"/>
            <a:ext cx="5349240" cy="2651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94560"/>
            <a:ext cx="5349240" cy="2651760"/>
          </a:xfrm>
          <a:prstGeom prst="rect">
            <a:avLst/>
          </a:prstGeom>
          <a:noFill/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1032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B6862"/>
                </a:solidFill>
                <a:latin typeface="Arial"/>
              </a:rPr>
              <a:t>The original custody document — verified</a:t>
            </a:r>
          </a:p>
        </p:txBody>
      </p:sp>
      <p:pic>
        <p:nvPicPr>
          <p:cNvPr id="10" name="Picture 9" descr="07-verify-tampered.png"/>
          <p:cNvPicPr>
            <a:picLocks noChangeAspect="1"/>
          </p:cNvPicPr>
          <p:nvPr/>
        </p:nvPicPr>
        <p:blipFill>
          <a:blip r:embed="rId3"/>
          <a:srcRect b="32000"/>
          <a:stretch>
            <a:fillRect/>
          </a:stretch>
        </p:blipFill>
        <p:spPr>
          <a:xfrm>
            <a:off x="6172200" y="2194560"/>
            <a:ext cx="5349240" cy="2651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72200" y="2194560"/>
            <a:ext cx="5349240" cy="2651760"/>
          </a:xfrm>
          <a:prstGeom prst="rect">
            <a:avLst/>
          </a:prstGeom>
          <a:noFill/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91032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B6862"/>
                </a:solidFill>
                <a:latin typeface="Arial"/>
              </a:rPr>
              <a:t>One word changed: RESTRICTED → UNCLASSIFIED — rejected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303520"/>
            <a:ext cx="10835640" cy="77724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468112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Nobody decided the second one was fake. Two fingerprints differ. That is arithmetic, not judgement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and this screen has no login, so someone who does not trust us can still run the check.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One thing absent from the history: the refused attempts. Nothing was allowed to happen, so nothing was recorded.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5 · CREDIBILITY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We attacked our own system and it broke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A red banner in our own interface proves nothing. So we switched the interface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6400800" cy="2331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CBD31"/>
                </a:solidFill>
                <a:latin typeface="Consolas"/>
              </a:rPr>
              <a:t>$ npx hardhat run scripts/prove-it.ts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7919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6D3CD"/>
                </a:solidFill>
                <a:latin typeface="Consolas"/>
              </a:rPr>
              <a:t>  Contractor tries to issue equipment, UI bypassed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5351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   REFUSED BY THE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2783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6D3CD"/>
                </a:solidFill>
                <a:latin typeface="Consolas"/>
              </a:rPr>
              <a:t>  Asset moved to an unregistered 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0215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   REFUSED — recipient not an active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6D3CD"/>
                </a:solidFill>
                <a:latin typeface="Consolas"/>
              </a:rPr>
              <a:t>  ADMIN issues to a revoked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50791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   REFUSED — even for the administrator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42231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FCBD31"/>
                </a:solidFill>
                <a:latin typeface="Consolas"/>
              </a:rPr>
              <a:t>The web app was never running.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214884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860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C1B1A"/>
                </a:solidFill>
                <a:latin typeface="Arial"/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788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automated tests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passing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42248" y="214884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42248" y="22860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C1B1A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2788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flaws we found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in our own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23576" y="214884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23576" y="22860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C1B1A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23576" y="2788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kinds of invalid action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refused on-chain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3383280"/>
            <a:ext cx="4160520" cy="109728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538728"/>
            <a:ext cx="37490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In the worst one, an asset could leave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the system entirely — and the audit log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showed nothing at all. We fixed it. The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attacks are now tests that must keep failing.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8463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We did not only test that valid actions work. We tested that invalid ones are stopped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replay, impersonation, expired proofs, revoked identities, tampered documents.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5 · 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From trusting records to proving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21991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"The system says this happened."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06440" y="2295144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965960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221991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"The record can be independently checked."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907791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6382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"An administrator decides whether to allow it."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3236975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6520" y="2907791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163824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"The rules enforce themselves."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9624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0565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"History lives inside one system."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06440" y="4178808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3849624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105656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"Critical actions leave a tamper-evident trail."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791456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47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"They left, but the record still says they hold it."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06440" y="5120640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46520" y="4791456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504748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"A revoked identity cannot hold or receive."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870448"/>
            <a:ext cx="10835640" cy="7315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03504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What changes is not the screens. It is who has to be trusted for the record to mean anything.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No percentages here. We have not measured any, and we will not invent them.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5 ·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What we can honestly claim, and what we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303520" cy="246888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Arial"/>
              </a:rPr>
              <a:t>BUILT AND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2316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Identity lifecycle — create, suspend, revoke, rotate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8892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8892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Permissions enforced by the system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5468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Asset custody bound to an active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2044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52044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Independent verification, no login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88620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88620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45 automated tests · 3 flaws found and fixed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874519"/>
            <a:ext cx="5349240" cy="24688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0756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B6862"/>
                </a:solidFill>
                <a:latin typeface="Arial"/>
              </a:rPr>
              <a:t>WE ARE NOT CLAIMING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42316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231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Measured reduction in inventory loss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78892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7889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Measured reduction in breaches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15468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1546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Deployment inside 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52044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5204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Production-scale field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88620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8862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That we have solved trust — only that we made it checkable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526280"/>
            <a:ext cx="10835640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70916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D6D3CD"/>
                </a:solidFill>
                <a:latin typeface="Arial"/>
              </a:rPr>
              <a:t>So — who can prove who controls this asset right now?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CBD31"/>
                </a:solidFill>
                <a:latin typeface="Arial"/>
              </a:rPr>
              <a:t>Don't just record what happened. Make it provable.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Stop here. Do not say "thank you, any questions". Let it land.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