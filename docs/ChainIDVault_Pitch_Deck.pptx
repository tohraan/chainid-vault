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ChainID Vault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127248"/>
            <a:ext cx="1463040" cy="64008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900" b="0" i="0">
                <a:solidFill>
                  <a:srgbClr val="D6D3CD"/>
                </a:solidFill>
                <a:latin typeface="Arial"/>
              </a:rPr>
              <a:t>Identity, access and asset custody enforced by smart contracts —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900" b="0" i="0">
                <a:solidFill>
                  <a:srgbClr val="D6D3CD"/>
                </a:solidFill>
                <a:latin typeface="Arial"/>
              </a:rPr>
              <a:t>not by a database an administrator can edit.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CBD31"/>
                </a:solidFill>
                <a:latin typeface="Arial"/>
              </a:rPr>
              <a:t>SIH26125  ·  Bharat Electronics Limited  ·  Blockchain &amp;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A3A099"/>
                </a:solidFill>
                <a:latin typeface="Arial"/>
              </a:rPr>
              <a:t>Smart India Hackathon 2026   |   Working prototype — 45 contract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Every control ends at the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Identity, permissions and custody all resolve to rows somebody can write 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79"/>
            <a:ext cx="5120640" cy="3200400"/>
          </a:xfrm>
          <a:prstGeom prst="rect">
            <a:avLst/>
          </a:prstGeom>
          <a:solidFill>
            <a:srgbClr val="F2F1EE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7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B6862"/>
                </a:solidFill>
                <a:latin typeface="Arial"/>
              </a:rPr>
              <a:t>HOW IT WORKS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624328"/>
            <a:ext cx="4572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2491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Corporate IAM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6265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Who exists, and what they may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401568"/>
            <a:ext cx="4572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50215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Asset 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3989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Which item is issued to whom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178808"/>
            <a:ext cx="45720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79392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Audit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1713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A table recording the two above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011679"/>
            <a:ext cx="5349240" cy="3200400"/>
          </a:xfrm>
          <a:prstGeom prst="rect">
            <a:avLst/>
          </a:prstGeom>
          <a:solidFill>
            <a:srgbClr val="FDECEC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79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C1C1C"/>
                </a:solidFill>
                <a:latin typeface="Arial"/>
              </a:rPr>
              <a:t>THE SINGLE FAILURE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87752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All three are rows in a database.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Anyone who can write to it can grant a role,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reassign an asset, and delete the log entry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that would have shown they did.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7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3840479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A compromised administrator account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330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4133087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An insider with legitimate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25695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4425695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An attacker who reached the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79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BC1C1C"/>
                </a:solidFill>
                <a:latin typeface="Arial"/>
              </a:rPr>
              <a:t>The audit trail is stored by the very system it is supposed to hold accountable.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This is not a software-quality problem. Better code does not change where the enforcement lives.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1 · A REAL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The contractor who never left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A defence facility, an ending engagement, and a piece of controlled equipment.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CBD31"/>
                </a:solidFill>
                <a:latin typeface="Arial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328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Contractor onboarded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81528"/>
            <a:ext cx="1691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Directory account created,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row added to the register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34056" y="3154680"/>
            <a:ext cx="292608" cy="201168"/>
          </a:xfrm>
          <a:prstGeom prst="rightArrow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210312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2" y="226771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CBD31"/>
                </a:solidFill>
                <a:latin typeface="Arial"/>
              </a:rPr>
              <a:t>DAY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5328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Equipment issued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081528"/>
            <a:ext cx="1691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Spectrum analyser logged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against their name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20056" y="3154680"/>
            <a:ext cx="292608" cy="201168"/>
          </a:xfrm>
          <a:prstGeom prst="rightArrow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800" y="2103120"/>
            <a:ext cx="1965960" cy="2286000"/>
          </a:xfrm>
          <a:prstGeom prst="rect">
            <a:avLst/>
          </a:prstGeom>
          <a:solidFill>
            <a:srgbClr val="FDF3E0"/>
          </a:solidFill>
          <a:ln w="12700">
            <a:solidFill>
              <a:srgbClr val="D89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226771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D89A2E"/>
                </a:solidFill>
                <a:latin typeface="Arial"/>
              </a:rPr>
              <a:t>LAST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5328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Account disabled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3081528"/>
            <a:ext cx="1691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IAM access removed —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but the register is untouched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306056" y="3154680"/>
            <a:ext cx="292608" cy="201168"/>
          </a:xfrm>
          <a:prstGeom prst="rightArrow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43800" y="2103120"/>
            <a:ext cx="1965960" cy="2286000"/>
          </a:xfrm>
          <a:prstGeom prst="rect">
            <a:avLst/>
          </a:prstGeom>
          <a:solidFill>
            <a:srgbClr val="FDECEC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226771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BC1C1C"/>
                </a:solidFill>
                <a:latin typeface="Arial"/>
              </a:rPr>
              <a:t>DAY 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25328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Equipment presented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3081528"/>
            <a:ext cx="1691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At another plant, with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altered custody paperwork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92056" y="3154680"/>
            <a:ext cx="292608" cy="201168"/>
          </a:xfrm>
          <a:prstGeom prst="rightArrow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2103120"/>
            <a:ext cx="1965960" cy="2286000"/>
          </a:xfrm>
          <a:prstGeom prst="rect">
            <a:avLst/>
          </a:prstGeom>
          <a:solidFill>
            <a:srgbClr val="FDECEC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2267712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BC1C1C"/>
                </a:solidFill>
                <a:latin typeface="Arial"/>
              </a:rPr>
              <a:t>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253288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Accepted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3081528"/>
            <a:ext cx="1691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Nothing available to the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receiving officer says otherwise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663440"/>
            <a:ext cx="10835640" cy="960120"/>
          </a:xfrm>
          <a:prstGeom prst="rect">
            <a:avLst/>
          </a:prstGeom>
          <a:solidFill>
            <a:srgbClr val="F2F1EE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837176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0" i="0">
                <a:solidFill>
                  <a:srgbClr val="1C1B1A"/>
                </a:solidFill>
                <a:latin typeface="Arial"/>
              </a:rPr>
              <a:t>Three separate records disagreed, and every one of them was editable by whoever held the credentials.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500" b="0" i="0">
                <a:solidFill>
                  <a:srgbClr val="1C1B1A"/>
                </a:solidFill>
                <a:latin typeface="Arial"/>
              </a:rPr>
              <a:t>The receiving officer had no independent way to check any of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Offboarding is where custody systems fail, because disabling access and returning assets are two different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1 · WHY IT CANNOT BE PATCHED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The people who need the evidence are outside your walls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A record is only useful to someone who does not already trust the operator.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029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B6862"/>
                </a:solidFill>
                <a:latin typeface="Arial"/>
              </a:rPr>
              <a:t>INSIDE THE TRUST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919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C1B1A"/>
                </a:solidFill>
                <a:latin typeface="Arial"/>
              </a:rPr>
              <a:t>"Our database says so."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644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264408"/>
            <a:ext cx="4279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1B1A"/>
                </a:solidFill>
                <a:latin typeface="Arial"/>
              </a:rPr>
              <a:t>Works for staff who already trust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935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593591"/>
            <a:ext cx="4279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1B1A"/>
                </a:solidFill>
                <a:latin typeface="Arial"/>
              </a:rPr>
              <a:t>Works while nobody disputes anything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922776"/>
            <a:ext cx="4279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C1B1A"/>
                </a:solidFill>
                <a:latin typeface="Arial"/>
              </a:rPr>
              <a:t>Fails the moment it is challenged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03120"/>
            <a:ext cx="5257800" cy="3291840"/>
          </a:xfrm>
          <a:prstGeom prst="rect">
            <a:avLst/>
          </a:prstGeom>
          <a:solidFill>
            <a:srgbClr val="E7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50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E9E5B"/>
                </a:solidFill>
                <a:latin typeface="Arial"/>
              </a:rPr>
              <a:t>OUTSIDE IT — WHO ACTUALLY NEEDS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Internal auditor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80944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Must not depend on the operator's own copy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64992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Receiving officer, another 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02736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Has no access to your register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86784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Customer accepting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2452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Wants provenance, not assurances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08576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Investigator after an incident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4632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Needs a record nobody could 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23560"/>
            <a:ext cx="10835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1B1A"/>
                </a:solidFill>
                <a:latin typeface="Arial"/>
              </a:rPr>
              <a:t>For everyone on the right, an editable database is an assertion. It is not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This is the gap the problem statement describes, and it is a trust problem rather than a technology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Three things, governed on-chain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ChainID Vault moves the enforcement point out of application code and into contract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3520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3520440" cy="91440"/>
          </a:xfrm>
          <a:prstGeom prst="rect">
            <a:avLst/>
          </a:prstGeom>
          <a:solidFill>
            <a:srgbClr val="3B8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77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3B8FD9"/>
                </a:solidFill>
                <a:latin typeface="Arial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79191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1B1A"/>
                </a:solidFill>
                <a:latin typeface="Arial"/>
              </a:rPr>
              <a:t>A recognised keypair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B8FD9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2004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Lifecycle status: Active / Suspended / Revoked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803904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B8FD9"/>
                </a:solidFill>
                <a:latin typeface="Aria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80390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Hash of an off-chain personnel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407408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B8FD9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40740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Control proven by signature, never asserted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103120"/>
            <a:ext cx="3520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103120"/>
            <a:ext cx="3520440" cy="914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377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E9E5B"/>
                </a:solidFill>
                <a:latin typeface="Arial"/>
              </a:rPr>
              <a:t>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679191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1B1A"/>
                </a:solidFill>
                <a:latin typeface="Arial"/>
              </a:rPr>
              <a:t>One controlled 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200400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2004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ERC-721 token — unique, non-duplicable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3803904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80390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Bound to a verified identity at all times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407408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40740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Hash of its custody document anchored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2103120"/>
            <a:ext cx="35204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2103120"/>
            <a:ext cx="3520440" cy="91440"/>
          </a:xfrm>
          <a:prstGeom prst="rect">
            <a:avLst/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1" y="23774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98A2E"/>
                </a:solidFill>
                <a:latin typeface="Arial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2679191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1B1A"/>
                </a:solidFill>
                <a:latin typeface="Arial"/>
              </a:rPr>
              <a:t>A permission grant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3200400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8A2E"/>
                </a:solidFill>
                <a:latin typeface="Aria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32004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Admin · Manager · Auditor ·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3803904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8A2E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3803904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Checked inside the function it guards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407408"/>
            <a:ext cx="164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8A2E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4407408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6B6862"/>
                </a:solidFill>
                <a:latin typeface="Arial"/>
              </a:rPr>
              <a:t>Held per identity, per contract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715000"/>
            <a:ext cx="10835640" cy="6583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8795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Ownership is not a claim in our system. It is a state a contract will only change if its rules allow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Everything above is implemented and covered by tests. Nothing on this slide is planned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No backend. No database. On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The browser calls the chain directly — the component we removed is the one that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6B6862"/>
                </a:solidFill>
                <a:latin typeface="Arial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React + ethers.js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Six screens. Holds no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authority whatsoever.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03320" y="2788920"/>
            <a:ext cx="640080" cy="201168"/>
          </a:xfrm>
          <a:prstGeom prst="rightArrow">
            <a:avLst/>
          </a:prstGeom>
          <a:solidFill>
            <a:srgbClr val="1C1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044952"/>
            <a:ext cx="868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6B6862"/>
                </a:solidFill>
                <a:latin typeface="Arial"/>
              </a:rPr>
              <a:t>JSON-RPC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103120"/>
            <a:ext cx="3200400" cy="1554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31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CBD31"/>
                </a:solidFill>
                <a:latin typeface="Arial"/>
              </a:rPr>
              <a:t>PERMISSIONED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243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IdentityRegistry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926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AssetNFT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644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A3A099"/>
                </a:solidFill>
                <a:latin typeface="Arial"/>
              </a:rPr>
              <a:t>All authority lives here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63840" y="2788920"/>
            <a:ext cx="640080" cy="201168"/>
          </a:xfrm>
          <a:prstGeom prst="rightArrow">
            <a:avLst/>
          </a:prstGeom>
          <a:solidFill>
            <a:srgbClr val="1C1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2194560"/>
            <a:ext cx="2834640" cy="1371600"/>
          </a:xfrm>
          <a:prstGeom prst="rect">
            <a:avLst/>
          </a:prstGeom>
          <a:solidFill>
            <a:srgbClr val="F2F1EE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24231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6B6862"/>
                </a:solidFill>
                <a:latin typeface="Arial"/>
              </a:rPr>
              <a:t>ANY VERIFIER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6974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No account needed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30175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Reads the same record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without trusting us.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31920"/>
            <a:ext cx="10698480" cy="1508760"/>
          </a:xfrm>
          <a:prstGeom prst="rect">
            <a:avLst/>
          </a:prstGeom>
          <a:solidFill>
            <a:srgbClr val="FDECEC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C1C1C"/>
                </a:solidFill>
                <a:latin typeface="Arial"/>
              </a:rPr>
              <a:t>WHAT IS DELIBERATELY ABSENT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No backend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09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Nothing to compromise between user and 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4348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No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709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No editable row for a role, an owner or a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4348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No public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091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Runs on a permissioned chain — no gas, no exposure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A database would only reintroduce the component whose editability this project exists to remove.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2 · DATA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What goes on-chain, and what must never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A blockchain is permanent and public. That makes it the wrong home for personal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3520440" cy="3794760"/>
          </a:xfrm>
          <a:prstGeom prst="rect">
            <a:avLst/>
          </a:prstGeom>
          <a:solidFill>
            <a:srgbClr val="E7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500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ON-CHAIN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79191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 i="0">
                <a:solidFill>
                  <a:srgbClr val="6B6862"/>
                </a:solidFill>
                <a:latin typeface="Arial"/>
              </a:rPr>
              <a:t>Small, consensus-critical, must be tamper-evident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3375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Identity existence and lifecycle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947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Role grants and revocations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2519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Asset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091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Every state-change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51663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Document fingerprints (hashes)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103120"/>
            <a:ext cx="3520440" cy="3794760"/>
          </a:xfrm>
          <a:prstGeom prst="rect">
            <a:avLst/>
          </a:prstGeom>
          <a:solidFill>
            <a:srgbClr val="EAF3FB"/>
          </a:solidFill>
          <a:ln w="12700">
            <a:solidFill>
              <a:srgbClr val="3B8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3500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B8FD9"/>
                </a:solidFill>
                <a:latin typeface="Arial"/>
              </a:rPr>
              <a:t>OFF-CHAIN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679191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 i="0">
                <a:solidFill>
                  <a:srgbClr val="6B6862"/>
                </a:solidFill>
                <a:latin typeface="Arial"/>
              </a:rPr>
              <a:t>Sensitive, large, sometimes legally erasable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3375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Personnel records and personal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7947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Equipment specification sheets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2519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Signed custody paperwork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7091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Calibration certificates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51663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Anything a person could be identified by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2103120"/>
            <a:ext cx="3520440" cy="3794760"/>
          </a:xfrm>
          <a:prstGeom prst="rect">
            <a:avLst/>
          </a:prstGeom>
          <a:solidFill>
            <a:srgbClr val="FDF3E0"/>
          </a:solidFill>
          <a:ln w="12700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1" y="235000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8A2E"/>
                </a:solidFill>
                <a:latin typeface="Arial"/>
              </a:rPr>
              <a:t>ANCHORED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2679191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 i="0">
                <a:solidFill>
                  <a:srgbClr val="6B6862"/>
                </a:solidFill>
                <a:latin typeface="Arial"/>
              </a:rPr>
              <a:t>The bridge: proof without exposure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33375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keccak256 of the off-chain document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37947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Chain never sees the 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42519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Anyone can prove a document is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47091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one registered — change one byte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51663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and verification fails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Privacy by construction: personal data stays erasable off-chain, while its integrity remains provable on-chain.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2 · THE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Two contracts, one chokepoint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Every rule is enforced where it cannot be bypassed by calling a different function.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1B1A"/>
                </a:solidFill>
                <a:latin typeface="Arial"/>
              </a:rPr>
              <a:t>IdentityRegistry.sol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743200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registerIdentity — admin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4495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044952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suspend / reactivate / revokeIdentity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467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346704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rotateKey — recover from key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4845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648456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proveControl — EIP-712 signature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502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950208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Paginated reads for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03120"/>
            <a:ext cx="5303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1C1B1A"/>
                </a:solidFill>
                <a:latin typeface="Arial"/>
              </a:rPr>
              <a:t>AssetNFT.sol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743200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mintAsset — admin only, active recipient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4495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3044952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transferAsset — owner, admin or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467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3346704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verifyAsset — open to anyone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4845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3648456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verifyAssetIntegrity — tamper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5020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3950208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Calls the registry before every movement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572000"/>
            <a:ext cx="10835640" cy="1371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7548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CBD31"/>
                </a:solidFill>
                <a:latin typeface="Arial"/>
              </a:rPr>
              <a:t>THE INVARIANT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056631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An asset may only ever be held by an active identity.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4223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D6D3CD"/>
                </a:solidFill>
                <a:latin typeface="Arial"/>
              </a:rPr>
              <a:t>Enforced inside _update — the one internal function every mint, transfer and burn passes through.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45 automated tests cover these, including the negative cases: replay, impersonation, expiry and tampering.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3 ·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The workflow, not a pile of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The product opens on the actual custody process, each stage runnable live.</a:t>
            </a:r>
          </a:p>
        </p:txBody>
      </p:sp>
      <p:pic>
        <p:nvPicPr>
          <p:cNvPr id="7" name="Picture 6" descr="01-pipeline-start.png"/>
          <p:cNvPicPr>
            <a:picLocks noChangeAspect="1"/>
          </p:cNvPicPr>
          <p:nvPr/>
        </p:nvPicPr>
        <p:blipFill>
          <a:blip r:embed="rId2"/>
          <a:srcRect b="40000"/>
          <a:stretch>
            <a:fillRect/>
          </a:stretch>
        </p:blipFill>
        <p:spPr>
          <a:xfrm>
            <a:off x="685800" y="2057400"/>
            <a:ext cx="6949440" cy="3931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2057400"/>
            <a:ext cx="6949440" cy="3931920"/>
          </a:xfrm>
          <a:prstGeom prst="rect">
            <a:avLst/>
          </a:prstGeom>
          <a:noFill/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2057400"/>
            <a:ext cx="3657600" cy="3931920"/>
          </a:xfrm>
          <a:prstGeom prst="rect">
            <a:avLst/>
          </a:prstGeom>
          <a:solidFill>
            <a:srgbClr val="F2F1EE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2860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B6862"/>
                </a:solidFill>
                <a:latin typeface="Arial"/>
              </a:rPr>
              <a:t>SIX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243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CBD31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243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Onboard the contractor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0815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CBD31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0815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Issue controlled equipment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5387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CBD31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5387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Prove identity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9959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CBD31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9959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Verify item and paperwork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531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CBD31"/>
                </a:solidFill>
                <a:latin typeface="Arial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4531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Engagement ends — offboard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91032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CBD31"/>
                </a:solidFill>
                <a:latin typeface="Arial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9103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 i="0">
                <a:solidFill>
                  <a:srgbClr val="BC1C1C"/>
                </a:solidFill>
                <a:latin typeface="Arial"/>
              </a:rPr>
              <a:t>Issue to them anyway → refused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4589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Each stage states how it is done today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and what that leaves open.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Screenshot from the running prototype. Every button on it sends a real transaction.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3 ·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Issuing, governing and revoking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Day-to-day tools for the security administrator and the stores desk.</a:t>
            </a:r>
          </a:p>
        </p:txBody>
      </p:sp>
      <p:pic>
        <p:nvPicPr>
          <p:cNvPr id="7" name="Picture 6" descr="02-admin.png"/>
          <p:cNvPicPr>
            <a:picLocks noChangeAspect="1"/>
          </p:cNvPicPr>
          <p:nvPr/>
        </p:nvPicPr>
        <p:blipFill>
          <a:blip r:embed="rId2"/>
          <a:srcRect b="34000"/>
          <a:stretch>
            <a:fillRect/>
          </a:stretch>
        </p:blipFill>
        <p:spPr>
          <a:xfrm>
            <a:off x="685800" y="2057400"/>
            <a:ext cx="5349240" cy="3017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2057400"/>
            <a:ext cx="5349240" cy="3017520"/>
          </a:xfrm>
          <a:prstGeom prst="rect">
            <a:avLst/>
          </a:prstGeom>
          <a:noFill/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14807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6B6862"/>
                </a:solidFill>
                <a:latin typeface="Arial"/>
              </a:rPr>
              <a:t>Admin — register an identity, assign a role, issue equipment</a:t>
            </a:r>
          </a:p>
        </p:txBody>
      </p:sp>
      <p:pic>
        <p:nvPicPr>
          <p:cNvPr id="10" name="Picture 9" descr="03-identities.png"/>
          <p:cNvPicPr>
            <a:picLocks noChangeAspect="1"/>
          </p:cNvPicPr>
          <p:nvPr/>
        </p:nvPicPr>
        <p:blipFill>
          <a:blip r:embed="rId3"/>
          <a:srcRect b="34000"/>
          <a:stretch>
            <a:fillRect/>
          </a:stretch>
        </p:blipFill>
        <p:spPr>
          <a:xfrm>
            <a:off x="6172200" y="2057400"/>
            <a:ext cx="5349240" cy="3017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72200" y="2057400"/>
            <a:ext cx="5349240" cy="3017520"/>
          </a:xfrm>
          <a:prstGeom prst="rect">
            <a:avLst/>
          </a:prstGeom>
          <a:noFill/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514807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6B6862"/>
                </a:solidFill>
                <a:latin typeface="Arial"/>
              </a:rPr>
              <a:t>Identities — lifecycle control and cryptographic proof of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577840"/>
            <a:ext cx="10835640" cy="777240"/>
          </a:xfrm>
          <a:prstGeom prst="rect">
            <a:avLst/>
          </a:prstGeom>
          <a:solidFill>
            <a:srgbClr val="E7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7332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0" i="0">
                <a:solidFill>
                  <a:srgbClr val="1C1B1A"/>
                </a:solidFill>
                <a:latin typeface="Arial"/>
              </a:rPr>
              <a:t>Suspending or revoking takes effect on-chain immediately. A non-active identity cannot receive an asset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0" i="0">
                <a:solidFill>
                  <a:srgbClr val="1C1B1A"/>
                </a:solidFill>
                <a:latin typeface="Arial"/>
              </a:rPr>
              <a:t>by any route, and cannot prove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Role badges are read from the chain, not from application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The screen that needs no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A gate officer checks the item and the paperwork against the chain itself.</a:t>
            </a:r>
          </a:p>
        </p:txBody>
      </p:sp>
      <p:pic>
        <p:nvPicPr>
          <p:cNvPr id="7" name="Picture 6" descr="06-verify-authentic.png"/>
          <p:cNvPicPr>
            <a:picLocks noChangeAspect="1"/>
          </p:cNvPicPr>
          <p:nvPr/>
        </p:nvPicPr>
        <p:blipFill>
          <a:blip r:embed="rId2"/>
          <a:srcRect b="28000"/>
          <a:stretch>
            <a:fillRect/>
          </a:stretch>
        </p:blipFill>
        <p:spPr>
          <a:xfrm>
            <a:off x="685800" y="2057400"/>
            <a:ext cx="534924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2057400"/>
            <a:ext cx="5349240" cy="3200400"/>
          </a:xfrm>
          <a:prstGeom prst="rect">
            <a:avLst/>
          </a:prstGeom>
          <a:noFill/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3095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6B6862"/>
                </a:solidFill>
                <a:latin typeface="Arial"/>
              </a:rPr>
              <a:t>Original custody document — verified authentic</a:t>
            </a:r>
          </a:p>
        </p:txBody>
      </p:sp>
      <p:pic>
        <p:nvPicPr>
          <p:cNvPr id="10" name="Picture 9" descr="07-verify-tampered.png"/>
          <p:cNvPicPr>
            <a:picLocks noChangeAspect="1"/>
          </p:cNvPicPr>
          <p:nvPr/>
        </p:nvPicPr>
        <p:blipFill>
          <a:blip r:embed="rId3"/>
          <a:srcRect b="28000"/>
          <a:stretch>
            <a:fillRect/>
          </a:stretch>
        </p:blipFill>
        <p:spPr>
          <a:xfrm>
            <a:off x="6172200" y="2057400"/>
            <a:ext cx="5349240" cy="3200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72200" y="2057400"/>
            <a:ext cx="5349240" cy="3200400"/>
          </a:xfrm>
          <a:prstGeom prst="rect">
            <a:avLst/>
          </a:prstGeom>
          <a:noFill/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5330952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6B6862"/>
                </a:solidFill>
                <a:latin typeface="Arial"/>
              </a:rPr>
              <a:t>One word changed: RESTRICTED → UNCLASSIFIED — rejected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715000"/>
            <a:ext cx="10835640" cy="658368"/>
          </a:xfrm>
          <a:prstGeom prst="rect">
            <a:avLst/>
          </a:prstGeom>
          <a:solidFill>
            <a:srgbClr val="FDECEC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8704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BC1C1C"/>
                </a:solidFill>
                <a:latin typeface="Arial"/>
              </a:rPr>
              <a:t>Nobody decided the second document was fake. Two hashes differ. That is arithmetic, not judgement.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The document itself was never stored on-chain — only its fingerprint, so nothing sensitive was published.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3 · THE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The log is the chain, not a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Live, append-only, and reconstructable by anyone with read access.</a:t>
            </a:r>
          </a:p>
        </p:txBody>
      </p:sp>
      <p:pic>
        <p:nvPicPr>
          <p:cNvPr id="7" name="Picture 6" descr="04-audit.png"/>
          <p:cNvPicPr>
            <a:picLocks noChangeAspect="1"/>
          </p:cNvPicPr>
          <p:nvPr/>
        </p:nvPicPr>
        <p:blipFill>
          <a:blip r:embed="rId2"/>
          <a:srcRect b="30000"/>
          <a:stretch>
            <a:fillRect/>
          </a:stretch>
        </p:blipFill>
        <p:spPr>
          <a:xfrm>
            <a:off x="685800" y="2057400"/>
            <a:ext cx="6766560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2057400"/>
            <a:ext cx="6766560" cy="3566160"/>
          </a:xfrm>
          <a:prstGeom prst="rect">
            <a:avLst/>
          </a:prstGeom>
          <a:noFill/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2057400"/>
            <a:ext cx="3794760" cy="3566160"/>
          </a:xfrm>
          <a:prstGeom prst="rect">
            <a:avLst/>
          </a:prstGeom>
          <a:solidFill>
            <a:srgbClr val="F2F1EE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2860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B6862"/>
                </a:solidFill>
                <a:latin typeface="Arial"/>
              </a:rPr>
              <a:t>WHAT IS RECORDED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6243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Identity registered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95351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Status 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28269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Role granted / revoked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118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Asset issued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9410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Asset transferred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2702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C1B1A"/>
                </a:solidFill>
                <a:latin typeface="Arial"/>
              </a:rPr>
              <a:t>· Control proven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663440"/>
            <a:ext cx="3337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200" b="1" i="0">
                <a:solidFill>
                  <a:srgbClr val="BC1C1C"/>
                </a:solidFill>
                <a:latin typeface="Arial"/>
              </a:rPr>
              <a:t>And what is NOT there: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200" b="1" i="0">
                <a:solidFill>
                  <a:srgbClr val="BC1C1C"/>
                </a:solidFill>
                <a:latin typeface="Arial"/>
              </a:rPr>
              <a:t>rejected attempts. A reverted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200" b="1" i="0">
                <a:solidFill>
                  <a:srgbClr val="BC1C1C"/>
                </a:solidFill>
                <a:latin typeface="Arial"/>
              </a:rPr>
              <a:t>transaction rolls back its own</a:t>
            </a:r>
          </a:p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200" b="1" i="0">
                <a:solidFill>
                  <a:srgbClr val="BC1C1C"/>
                </a:solidFill>
                <a:latin typeface="Arial"/>
              </a:rPr>
              <a:t>events — nothing happened.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Say this before a judge asks it. Expecting a 'rejected' row and not finding one is the usual confusion.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4 ·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We attacked our own system, and it broke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A security review of our contracts found a working exploit. Here is what and how.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303520" cy="1965960"/>
          </a:xfrm>
          <a:prstGeom prst="rect">
            <a:avLst/>
          </a:prstGeom>
          <a:solidFill>
            <a:srgbClr val="FDECEC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134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C1C1C"/>
                </a:solidFill>
                <a:latin typeface="Arial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4800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The rule "assets only go to registered identities"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lived in one function. But the contract inherits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the ERC-721 standard, which brings its own public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transfer functions — and those never checked.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03520" cy="1965960"/>
          </a:xfrm>
          <a:prstGeom prst="rect">
            <a:avLst/>
          </a:prstGeom>
          <a:solidFill>
            <a:srgbClr val="FDECEC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134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BC1C1C"/>
                </a:solidFill>
                <a:latin typeface="Arial"/>
              </a:rPr>
              <a:t>WORSE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24328"/>
            <a:ext cx="4800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That escape emitted no audit event, and the trail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filters raw token events by design. The asset left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the system and the log showed nothing at all —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an audit trail that omits events is worse than none.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97679"/>
            <a:ext cx="10835640" cy="1691640"/>
          </a:xfrm>
          <a:prstGeom prst="rect">
            <a:avLst/>
          </a:prstGeom>
          <a:solidFill>
            <a:srgbClr val="E7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0799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E9E5B"/>
                </a:solidFill>
                <a:latin typeface="Arial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1B1A"/>
                </a:solidFill>
                <a:latin typeface="Arial"/>
              </a:rPr>
              <a:t>The check moved to _update — the single chokepoint every transfer passes through.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No entry point can miss it, including any added later. The audit event is emitted from the same place, so no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ownership change can be silent. Three probes that previously succeeded as exploits are now regression tests.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The lesson worth saying out loud: a rule enforced at every entry point separately is one you will eventually forget to enforce.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4 ·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Four refusals, four different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A system that only demonstrates success has demonstrated nothing.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FDECEC"/>
          </a:solidFill>
          <a:ln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8658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BC1C1C"/>
                </a:solidFill>
                <a:latin typeface="Arial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Non-admin cannot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3872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CBD31"/>
                </a:solidFill>
                <a:latin typeface="Arial"/>
              </a:rPr>
              <a:t>ROLE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AccessControl on AssetNFT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210312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9312" y="2331720"/>
            <a:ext cx="384048" cy="384048"/>
          </a:xfrm>
          <a:prstGeom prst="ellipse">
            <a:avLst/>
          </a:prstGeom>
          <a:solidFill>
            <a:srgbClr val="FDECEC"/>
          </a:solidFill>
          <a:ln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38658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BC1C1C"/>
                </a:solidFill>
                <a:latin typeface="Arial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880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Non-admin cannot suspend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53872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CBD31"/>
                </a:solidFill>
                <a:latin typeface="Arial"/>
              </a:rPr>
              <a:t>ROLE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37764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A different contract, same guard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210312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2331720"/>
            <a:ext cx="384048" cy="384048"/>
          </a:xfrm>
          <a:prstGeom prst="ellipse">
            <a:avLst/>
          </a:prstGeom>
          <a:solidFill>
            <a:srgbClr val="FDECEC"/>
          </a:solidFill>
          <a:ln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38658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BC1C1C"/>
                </a:solidFill>
                <a:latin typeface="Arial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880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Suspended identity cannot receive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53872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CBD31"/>
                </a:solidFill>
                <a:latin typeface="Arial"/>
              </a:rPr>
              <a:t>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7764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Status enforced at the chokepoint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0536" y="2103120"/>
            <a:ext cx="26060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89136" y="2331720"/>
            <a:ext cx="384048" cy="384048"/>
          </a:xfrm>
          <a:prstGeom prst="ellipse">
            <a:avLst/>
          </a:prstGeom>
          <a:solidFill>
            <a:srgbClr val="FDECEC"/>
          </a:solidFill>
          <a:ln>
            <a:solidFill>
              <a:srgbClr val="B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238658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BC1C1C"/>
                </a:solidFill>
                <a:latin typeface="Arial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2880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 i="0">
                <a:solidFill>
                  <a:srgbClr val="1C1B1A"/>
                </a:solidFill>
                <a:latin typeface="Arial"/>
              </a:rPr>
              <a:t>Tampered document fails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3538728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FCBD31"/>
                </a:solidFill>
                <a:latin typeface="Arial"/>
              </a:rPr>
              <a:t>CRYPTOGRAPHY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77647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Hash mismatch — no judgement involved</a:t>
            </a:r>
          </a:p>
        </p:txBody>
      </p:sp>
      <p:pic>
        <p:nvPicPr>
          <p:cNvPr id="31" name="Picture 30" descr="08-rejection.png"/>
          <p:cNvPicPr>
            <a:picLocks noChangeAspect="1"/>
          </p:cNvPicPr>
          <p:nvPr/>
        </p:nvPicPr>
        <p:blipFill>
          <a:blip r:embed="rId2"/>
          <a:srcRect b="55000"/>
          <a:stretch>
            <a:fillRect/>
          </a:stretch>
        </p:blipFill>
        <p:spPr>
          <a:xfrm>
            <a:off x="685800" y="4453128"/>
            <a:ext cx="6766560" cy="162763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85800" y="4453128"/>
            <a:ext cx="6766560" cy="1627632"/>
          </a:xfrm>
          <a:prstGeom prst="rect">
            <a:avLst/>
          </a:prstGeom>
          <a:noFill/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35240" y="4453128"/>
            <a:ext cx="3886200" cy="16276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654296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The rejection is shown on screen with the contract's own reason —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not hidden in a console, and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not invented by the interface.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4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"That red banner could be an if-statement"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A fair objection. So we answer it with the application switched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10835640" cy="320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CBD31"/>
                </a:solidFill>
                <a:latin typeface="Arial"/>
              </a:rPr>
              <a:t>$ npx hardhat run scripts/prove-it.ts --network localhost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6D3CD"/>
                </a:solidFill>
                <a:latin typeface="Consolas"/>
              </a:rPr>
              <a:t>  2. Contractor tries to issue equipment, bypassing the UI completely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35808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E9E5B"/>
                </a:solidFill>
                <a:latin typeface="Consolas"/>
              </a:rPr>
              <a:t>     ✓ REFUSED BY THE CONTRACT — AccessControlUnauthorizedAccount(0x90F7…b906, 0xa498…1775)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28416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6D3CD"/>
                </a:solidFill>
                <a:latin typeface="Consolas"/>
              </a:rPr>
              <a:t>  4. An asset cannot escape to an address the organisation never registered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21024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E9E5B"/>
                </a:solidFill>
                <a:latin typeface="Consolas"/>
              </a:rPr>
              <a:t>     ✓ REFUSED — Recipient not an active identity   (raw ERC-721 transfer path)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13632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6D3CD"/>
                </a:solidFill>
                <a:latin typeface="Consolas"/>
              </a:rPr>
              <a:t>  5. A revoked identity is finished — even for the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0624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E9E5B"/>
                </a:solidFill>
                <a:latin typeface="Consolas"/>
              </a:rPr>
              <a:t>     ✓ Even the ADMIN cannot issue to a revoked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98848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D6D3CD"/>
                </a:solidFill>
                <a:latin typeface="Consolas"/>
              </a:rPr>
              <a:t>  6. Tampered paperwork fails, and it fails on arithmetic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91456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E9E5B"/>
                </a:solidFill>
                <a:latin typeface="Consolas"/>
              </a:rPr>
              <a:t>     original document -&gt; AUTHENTIC     one word changed -&gt; 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9320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CBD31"/>
                </a:solidFill>
                <a:latin typeface="Arial"/>
              </a:rPr>
              <a:t>Every refusal came from contract bytecode. The web app was never running.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486400"/>
            <a:ext cx="10835640" cy="777240"/>
          </a:xfrm>
          <a:prstGeom prst="rect">
            <a:avLst/>
          </a:prstGeom>
          <a:solidFill>
            <a:srgbClr val="F2F1EE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64184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The strongest line is number 5. The account that is refused holds every administrative privilege in the system.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1" i="0">
                <a:solidFill>
                  <a:srgbClr val="1C1B1A"/>
                </a:solidFill>
                <a:latin typeface="Arial"/>
              </a:rPr>
              <a:t>A database administrator can always override the database. Here, nobody can.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4 ·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What we can actually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Claims are cheap. These are the numbers behind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606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 i="0">
                <a:solidFill>
                  <a:srgbClr val="1C1B1A"/>
                </a:solidFill>
                <a:latin typeface="Arial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008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contract tests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2103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2286000"/>
            <a:ext cx="2606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 i="0">
                <a:solidFill>
                  <a:srgbClr val="1C1B1A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99008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exploits found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and closed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2103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2286000"/>
            <a:ext cx="2606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 i="0">
                <a:solidFill>
                  <a:srgbClr val="1C1B1A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299008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distinct on-chain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refusals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0536" y="21031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0536" y="2286000"/>
            <a:ext cx="2606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 i="0">
                <a:solidFill>
                  <a:srgbClr val="1C1B1A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536" y="2990088"/>
            <a:ext cx="2606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console errors</a:t>
            </a:r>
          </a:p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in the demo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10835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1B1A"/>
                </a:solidFill>
                <a:latin typeface="Arial"/>
              </a:rPr>
              <a:t>Negative tests — the ones that matter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97679"/>
            <a:ext cx="5303520" cy="56692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379975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Signature replay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A used proof cannot be presented twice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297679"/>
            <a:ext cx="5303520" cy="56692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379975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Impersonation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Another key's signature does not prove 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956047"/>
            <a:ext cx="5303520" cy="56692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038343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Expired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056631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A proof past its deadline is refused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956047"/>
            <a:ext cx="5303520" cy="56692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5038343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Revoked identity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5056631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Cannot prove control, cannot receive assets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614415"/>
            <a:ext cx="5303520" cy="56692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5696711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Unregistered recipient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714999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Blocked on every transfer path, including raw ERC-721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5614415"/>
            <a:ext cx="5303520" cy="566928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696711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Document tampering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9640" y="5714999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0" i="0">
                <a:solidFill>
                  <a:srgbClr val="6B6862"/>
                </a:solidFill>
                <a:latin typeface="Arial"/>
              </a:rPr>
              <a:t>A single altered byte fails integrity 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Threat model, requirement traceability and the full audit are committed in the repository.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5 ·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Who this changes the day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Four roles, four different problems solved by the same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82296" cy="713232"/>
          </a:xfrm>
          <a:prstGeom prst="rect">
            <a:avLst/>
          </a:prstGeom>
          <a:solidFill>
            <a:srgbClr val="3B8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1B1A"/>
                </a:solidFill>
                <a:latin typeface="Arial"/>
              </a:rPr>
              <a:t>Security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240280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 i="0">
                <a:solidFill>
                  <a:srgbClr val="6B6862"/>
                </a:solidFill>
                <a:latin typeface="Arial"/>
              </a:rPr>
              <a:t>Revocation is immediate and cannot be bypassed — including by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017520"/>
            <a:ext cx="82296" cy="71323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632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1B1A"/>
                </a:solidFill>
                <a:latin typeface="Arial"/>
              </a:rPr>
              <a:t>Stores / custody officer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 i="0">
                <a:solidFill>
                  <a:srgbClr val="6B6862"/>
                </a:solidFill>
                <a:latin typeface="Arial"/>
              </a:rPr>
              <a:t>One verifiable record instead of a register and paperwork that disagree.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886200"/>
            <a:ext cx="82296" cy="713232"/>
          </a:xfrm>
          <a:prstGeom prst="rect">
            <a:avLst/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1B1A"/>
                </a:solidFill>
                <a:latin typeface="Arial"/>
              </a:rPr>
              <a:t>Internal auditor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977639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 i="0">
                <a:solidFill>
                  <a:srgbClr val="6B6862"/>
                </a:solidFill>
                <a:latin typeface="Arial"/>
              </a:rPr>
              <a:t>Reconstructs the full history without trusting the system operator.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54879"/>
            <a:ext cx="82296" cy="713232"/>
          </a:xfrm>
          <a:prstGeom prst="rect">
            <a:avLst/>
          </a:prstGeom>
          <a:solidFill>
            <a:srgbClr val="1C1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0059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C1B1A"/>
                </a:solidFill>
                <a:latin typeface="Arial"/>
              </a:rPr>
              <a:t>External verifier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846319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 i="0">
                <a:solidFill>
                  <a:srgbClr val="6B6862"/>
                </a:solidFill>
                <a:latin typeface="Arial"/>
              </a:rPr>
              <a:t>Confirms authenticity and custody with no account and no login.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760720"/>
            <a:ext cx="10835640" cy="7772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91616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Operationally, the win is offboarding: the gap that opens every time somebody leaves, and closes here the moment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their identity is revoked.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5 · HONEST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What is built, and what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We would rather tell you the boundary than have you find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5303520" cy="3840480"/>
          </a:xfrm>
          <a:prstGeom prst="rect">
            <a:avLst/>
          </a:prstGeom>
          <a:solidFill>
            <a:srgbClr val="E7F4EC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E9E5B"/>
                </a:solidFill>
                <a:latin typeface="Arial"/>
              </a:rPr>
              <a:t>BUILT, TESTED AND DEMONSTRABLE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974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Identity registration and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8152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08152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Suspension, revocation, key rotation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655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46557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Role-based access, enforced on-chain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84962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849624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ERC-721 asset custody with identity binding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336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23367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EIP-712 cryptographic proof of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177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61772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Asset verification and document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017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001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Live audit trail from chain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8581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E9E5B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538581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1C1B1A"/>
                </a:solidFill>
                <a:latin typeface="Arial"/>
              </a:rPr>
              <a:t>Six-stage custody pipeline, end to 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103120"/>
            <a:ext cx="5303520" cy="3840480"/>
          </a:xfrm>
          <a:prstGeom prst="rect">
            <a:avLst/>
          </a:prstGeom>
          <a:solidFill>
            <a:srgbClr val="F2F1EE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31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6B6862"/>
                </a:solidFill>
                <a:latin typeface="Arial"/>
              </a:rPr>
              <a:t>NOT BUILT — AND 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9748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Wallet authentication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1693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Demo uses local keys; production needs wallet-connect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6440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Multi-signature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8386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One key holds full authority 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31336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W3C DID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507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Identity formatting, layered on a correct permission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98264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Off-chain document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17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We anchor hashes; production needs the store itself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65192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Failed-attempt logging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846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A revert rolls back its own events by 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53212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1B1A"/>
                </a:solidFill>
                <a:latin typeface="Arial"/>
              </a:rPr>
              <a:t>Permissioned chain 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75157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 i="0">
                <a:solidFill>
                  <a:srgbClr val="6B6862"/>
                </a:solidFill>
                <a:latin typeface="Arial"/>
              </a:rPr>
              <a:t>Local node chosen for demo reliability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Everything on the right is sequenced in the roadmap, not discovered late.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6B6862"/>
                </a:solidFill>
                <a:latin typeface="Arial"/>
              </a:rPr>
              <a:t>SPEAKER 5 · PATH TO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C1B1A"/>
                </a:solidFill>
                <a:latin typeface="Arial"/>
              </a:rPr>
              <a:t>From this prototype to a deployable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50292"/>
          </a:xfrm>
          <a:prstGeom prst="rect">
            <a:avLst/>
          </a:prstGeom>
          <a:solidFill>
            <a:srgbClr val="FCB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6B6862"/>
                </a:solidFill>
                <a:latin typeface="Arial"/>
              </a:rPr>
              <a:t>Nothing here requires new research — only engineering already scoped.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317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2606040" cy="3657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9572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39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Working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461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Two contracts, 45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7490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Full workflow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25196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Local permissioned chain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337560" y="3566160"/>
            <a:ext cx="256032" cy="201168"/>
          </a:xfrm>
          <a:prstGeom prst="rightArrow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3317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2331720"/>
            <a:ext cx="2606040" cy="365760"/>
          </a:xfrm>
          <a:prstGeom prst="rect">
            <a:avLst/>
          </a:prstGeom>
          <a:solidFill>
            <a:srgbClr val="3B8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39572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834639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Pilot-ready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32461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Wallet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37490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Multi-signature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425196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Off-chain document store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126479" y="3566160"/>
            <a:ext cx="256032" cy="201168"/>
          </a:xfrm>
          <a:prstGeom prst="rightArrow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3317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331720"/>
            <a:ext cx="2606040" cy="365760"/>
          </a:xfrm>
          <a:prstGeom prst="rect">
            <a:avLst/>
          </a:prstGeom>
          <a:solidFill>
            <a:srgbClr val="C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39572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2834639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Deployed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32461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Hyperledger Besu / Quorum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37490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Event indexer for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425196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Integration with existing register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915400" y="3566160"/>
            <a:ext cx="256032" cy="201168"/>
          </a:xfrm>
          <a:prstGeom prst="rightArrow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59" y="233172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68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59" y="2331720"/>
            <a:ext cx="2606040" cy="365760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59" y="2395728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LATER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834639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C1B1A"/>
                </a:solidFill>
                <a:latin typeface="Arial"/>
              </a:rPr>
              <a:t>Extended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2461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W3C DID / verifiable credentials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3749039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Tamper-evident physical tagging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425196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>· Cross-site federation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257800"/>
            <a:ext cx="10835640" cy="868680"/>
          </a:xfrm>
          <a:prstGeom prst="rect">
            <a:avLst/>
          </a:prstGeom>
          <a:solidFill>
            <a:srgbClr val="F2F1EE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42239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0" i="0">
                <a:solidFill>
                  <a:srgbClr val="1C1B1A"/>
                </a:solidFill>
                <a:latin typeface="Arial"/>
              </a:rPr>
              <a:t>Adoption is incremental. The system can run alongside an existing asset register — writing the same events to a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50" b="0" i="0">
                <a:solidFill>
                  <a:srgbClr val="1C1B1A"/>
                </a:solidFill>
                <a:latin typeface="Arial"/>
              </a:rPr>
              <a:t>record nobody can edit — long before it replaces anything.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B6862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CBD31"/>
                </a:solidFill>
                <a:latin typeface="Arial"/>
              </a:rPr>
              <a:t>WHY BLOCKCHAIN, IN ONE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A database could draw every screen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we just showed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10241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3400" b="1" i="0">
                <a:solidFill>
                  <a:srgbClr val="FCBD31"/>
                </a:solidFill>
                <a:latin typeface="Arial"/>
              </a:rPr>
              <a:t>What it cannot do is be trustworthy to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3400" b="1" i="0">
                <a:solidFill>
                  <a:srgbClr val="FCBD31"/>
                </a:solidFill>
                <a:latin typeface="Arial"/>
              </a:rPr>
              <a:t>someone who does not trust its operator.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10149840" cy="50292"/>
          </a:xfrm>
          <a:prstGeom prst="rect">
            <a:avLst/>
          </a:prstGeom>
          <a:solidFill>
            <a:srgbClr val="464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50" b="0" i="0">
                <a:solidFill>
                  <a:srgbClr val="D6D3CD"/>
                </a:solidFill>
                <a:latin typeface="Arial"/>
              </a:rPr>
              <a:t>That is why the verification screen needs no login, why the auditor does not depend on our copy,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450" b="0" i="0">
                <a:solidFill>
                  <a:srgbClr val="D6D3CD"/>
                </a:solidFill>
                <a:latin typeface="Arial"/>
              </a:rPr>
              <a:t>and why the administrator who built the system still cannot override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08076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A3A099"/>
                </a:solidFill>
                <a:latin typeface="Arial"/>
              </a:rPr>
              <a:t>ChainID Vault  ·  SIH26125  ·  github.com/tohraan/chainid-vault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