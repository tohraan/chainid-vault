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ChainID Vault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54680"/>
            <a:ext cx="1463040" cy="64008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9875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0" i="0">
                <a:solidFill>
                  <a:srgbClr val="D6D3CD"/>
                </a:solidFill>
                <a:latin typeface="Arial"/>
              </a:rPr>
              <a:t>Anyone can prove who controls an asset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000" b="0" i="0">
                <a:solidFill>
                  <a:srgbClr val="D6D3CD"/>
                </a:solidFill>
                <a:latin typeface="Arial"/>
              </a:rPr>
              <a:t>without trusting whoever runs the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029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CBD31"/>
                </a:solidFill>
                <a:latin typeface="Arial"/>
              </a:rPr>
              <a:t>SIH26125  ·  Bharat Electronics Limited  ·  Blockchain &amp; Cybersecurity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39496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A3A099"/>
                </a:solidFill>
                <a:latin typeface="Arial"/>
              </a:rPr>
              <a:t>Smart India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START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Everyone here has already used this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A gate. A guard. A card. It works — until it doesn't.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5120640" cy="329184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B6862"/>
                </a:solidFill>
                <a:latin typeface="Arial"/>
              </a:rPr>
              <a:t>AT A UNIVERSITY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Who are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3580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guard looks at your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8444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Should you be 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87705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checks you against a 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2569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C1B1A"/>
                </a:solidFill>
                <a:latin typeface="Arial"/>
              </a:rPr>
              <a:t>Did anyone record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1830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writes your name in a register.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148840"/>
            <a:ext cx="5349240" cy="329184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WHERE IT QUIETLY FAILS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15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card is not the 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97180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Borrowed, cloned, or simply held by someone else.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74135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He waves through the face he knows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301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rule stops being checked. It becomes memory.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0325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graduate's card still opens the 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288536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They left last year. Nobody told the gate.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6908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C1B1A"/>
                </a:solidFill>
                <a:latin typeface="Arial"/>
              </a:rPr>
              <a:t>The register is the guard's own notebook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94690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record is kept by the person it would hold accountable.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6235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C1B1A"/>
                </a:solidFill>
                <a:latin typeface="Arial"/>
              </a:rPr>
              <a:t>Nobody at that gate is doing anything wrong. The system is simply built on trust rather than proof.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Hold this picture. Every problem in the next ten minutes is this gate, with higher stakes.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Now put that gate inside a defence factory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Same four failures. Thousands of times a day. On controlled equipment.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10835640" cy="3657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A3A099"/>
                </a:solidFill>
                <a:latin typeface="Arial"/>
              </a:rPr>
              <a:t>AT THE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76272"/>
            <a:ext cx="4754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CBD31"/>
                </a:solidFill>
                <a:latin typeface="Arial"/>
              </a:rPr>
              <a:t>ON A DEFENCE MANUFACTURING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10835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066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card is not the person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43600" y="275234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66090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A credential is not a cleared operator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154680"/>
            <a:ext cx="10835640" cy="6400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4670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He waves through the face he knows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43600" y="339242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30098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"He has worked this line for years" — the check stops happening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794760"/>
            <a:ext cx="10835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8678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graduate's card still opens the gate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43600" y="403250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394106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BC1C1C"/>
                </a:solidFill>
                <a:latin typeface="Arial"/>
              </a:rPr>
              <a:t>The contractor's engagement ended. The calibrated instrument is still logged to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434840"/>
            <a:ext cx="10835640" cy="6400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268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6B6862"/>
                </a:solidFill>
                <a:latin typeface="Arial"/>
              </a:rPr>
              <a:t>The register is the guard's notebook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43600" y="4672584"/>
            <a:ext cx="365760" cy="155448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581144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00" b="1" i="0">
                <a:solidFill>
                  <a:srgbClr val="BC1C1C"/>
                </a:solidFill>
                <a:latin typeface="Arial"/>
              </a:rPr>
              <a:t>The inventory system is maintained by the organisation being audited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221224"/>
            <a:ext cx="5120640" cy="93268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58384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6B6862"/>
                </a:solidFill>
                <a:latin typeface="Arial"/>
              </a:rPr>
              <a:t>ONE GATE, ONE GUARD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605272"/>
            <a:ext cx="4663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A few hundred people a day.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One person can hold it in their head.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5221224"/>
            <a:ext cx="5120640" cy="93268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358384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BC1C1C"/>
                </a:solidFill>
                <a:latin typeface="Arial"/>
              </a:rPr>
              <a:t>A FACTORY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05272"/>
            <a:ext cx="47091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Thousands of custody handoffs a day —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since 2021, across seven separate companies.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Nobody can hold that in their head. So it goes into a system — and the system belongs to the people being audited.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1 · THE CONSEQUENCE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₹1,237 crore of stores nobody could reconcile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7665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7600" b="1" i="0">
                <a:solidFill>
                  <a:srgbClr val="BC1C1C"/>
                </a:solidFill>
                <a:latin typeface="Arial"/>
              </a:rPr>
              <a:t>₹1,237 crore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 i="0">
                <a:solidFill>
                  <a:srgbClr val="1C1B1A"/>
                </a:solidFill>
                <a:latin typeface="Arial"/>
              </a:rPr>
              <a:t>of the Ordnance Factory Board's stores were non-active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800" b="0" i="0">
                <a:solidFill>
                  <a:srgbClr val="1C1B1A"/>
                </a:solidFill>
                <a:latin typeface="Arial"/>
              </a:rPr>
              <a:t>not moving, surplus, or obsolete. Out of ₹6,172 crore held.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CAG Audit Report No. 10 of 2024, Government of India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480560"/>
            <a:ext cx="6766560" cy="8686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5429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Holding time rose from 214 days of consumption to 344.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After corporatisation, CAG went back: 21% still non-active in 2023.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26679" y="1920240"/>
            <a:ext cx="3794760" cy="342900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1488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WHAT WE ARE NOT SAYING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496312"/>
            <a:ext cx="3337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We are not claiming a blockchain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would have recovered that money.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We cannot prove that, so we will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1" i="0">
                <a:solidFill>
                  <a:srgbClr val="1C1B1A"/>
                </a:solidFill>
                <a:latin typeface="Arial"/>
              </a:rPr>
              <a:t>not say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7947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BC1C1C"/>
                </a:solidFill>
                <a:latin typeface="Arial"/>
              </a:rPr>
              <a:t>WHAT IT DOES SHOW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142232"/>
            <a:ext cx="3337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This is what it looks like when an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organisation can no longer reconcile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its own custody records.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50" b="0" i="0">
                <a:solidFill>
                  <a:srgbClr val="1C1B1A"/>
                </a:solidFill>
                <a:latin typeface="Arial"/>
              </a:rPr>
              <a:t>That is a verification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Documented external problem — not a claim about our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The old approach was given a decade, and the gap did not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Reorganising the institution did not fix a problem that lives in the records.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40280"/>
            <a:ext cx="25146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2016-17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Stores held 214 days of consumption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64408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240280"/>
            <a:ext cx="2514600" cy="173736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C1C1C"/>
                </a:solidFill>
                <a:latin typeface="Arial"/>
              </a:rPr>
              <a:t>2020-21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Risen to 344 days. ₹1,237 crore non-active.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53327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240280"/>
            <a:ext cx="2514600" cy="1737360"/>
          </a:xfrm>
          <a:prstGeom prst="rect">
            <a:avLst/>
          </a:prstGeom>
          <a:solidFill>
            <a:srgbClr val="FDF3E0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45309"/>
                </a:solidFill>
                <a:latin typeface="Arial"/>
              </a:rPr>
              <a:t>Oct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OFB corporatised into seven defence PSUs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42248" y="3017520"/>
            <a:ext cx="274320" cy="164592"/>
          </a:xfrm>
          <a:prstGeom prst="rightArrow">
            <a:avLst/>
          </a:prstGeom>
          <a:solidFill>
            <a:srgbClr val="6B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52559" y="2240280"/>
            <a:ext cx="2514600" cy="173736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2441448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C1C1C"/>
                </a:solidFill>
                <a:latin typeface="Arial"/>
              </a:rPr>
              <a:t>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3728" y="2770632"/>
            <a:ext cx="2148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00" b="1" i="0">
                <a:solidFill>
                  <a:srgbClr val="1C1B1A"/>
                </a:solidFill>
                <a:latin typeface="Arial"/>
              </a:rPr>
              <a:t>CAG returns. 21% of sampled stores still non-active.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297680"/>
            <a:ext cx="10835640" cy="960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More contractors, more sites, more handoffs between separate entities — and the same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records that could not be reconciled before.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BC1C1C"/>
                </a:solidFill>
                <a:latin typeface="Arial"/>
              </a:rPr>
              <a:t>The problem was never the warehouse. It was that no party could prove which record was correct.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PRECEDENT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We did not invent this. That is the argument.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The same mechanism — tamper-evident records, checkable by someone outside — already runs in production.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03120"/>
            <a:ext cx="10835640" cy="32918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834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CBD31"/>
                </a:solidFill>
                <a:latin typeface="Arial"/>
              </a:rPr>
              <a:t>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67128"/>
            <a:ext cx="3931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WHAT IT 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167128"/>
            <a:ext cx="3200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DOCUMENTED RESULT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432304"/>
            <a:ext cx="10835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3347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Walmart · IBM Food Trust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569464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 i="0">
                <a:solidFill>
                  <a:srgbClr val="6B6862"/>
                </a:solidFill>
                <a:latin typeface="Arial"/>
              </a:rPr>
              <a:t>Trace one item's full history across many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 i="0">
                <a:solidFill>
                  <a:srgbClr val="6B6862"/>
                </a:solidFill>
                <a:latin typeface="Arial"/>
              </a:rPr>
              <a:t>handlers, on Hyperledger Fabric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569464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 i="0">
                <a:solidFill>
                  <a:srgbClr val="2E9E5B"/>
                </a:solidFill>
                <a:latin typeface="Arial"/>
              </a:rPr>
              <a:t>Trace time fell from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 i="0">
                <a:solidFill>
                  <a:srgbClr val="2E9E5B"/>
                </a:solidFill>
                <a:latin typeface="Arial"/>
              </a:rPr>
              <a:t>7 days to 2.2 seconds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090672"/>
            <a:ext cx="10835640" cy="65836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US DoD · Defense Logistics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27832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 i="0">
                <a:solidFill>
                  <a:srgbClr val="6B6862"/>
                </a:solidFill>
                <a:latin typeface="Arial"/>
              </a:rPr>
              <a:t>Authorisation, authentication and traceability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 i="0">
                <a:solidFill>
                  <a:srgbClr val="6B6862"/>
                </a:solidFill>
                <a:latin typeface="Arial"/>
              </a:rPr>
              <a:t>of parts with the Navy and Air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2278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Active programme.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 i="0">
                <a:solidFill>
                  <a:srgbClr val="6B6862"/>
                </a:solidFill>
                <a:latin typeface="Arial"/>
              </a:rPr>
              <a:t>No published figures yet.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749039"/>
            <a:ext cx="10835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50207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Government of India · NITI Aayog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88620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 i="0">
                <a:solidFill>
                  <a:srgbClr val="6B6862"/>
                </a:solidFill>
                <a:latin typeface="Arial"/>
              </a:rPr>
              <a:t>"Blockchain: The India Strategy" (2020); land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 i="0">
                <a:solidFill>
                  <a:srgbClr val="6B6862"/>
                </a:solidFill>
                <a:latin typeface="Arial"/>
              </a:rPr>
              <a:t>record pilots in Chandigarh and Andhra Pradesh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88620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 i="0">
                <a:solidFill>
                  <a:srgbClr val="3B8FD9"/>
                </a:solidFill>
                <a:latin typeface="Arial"/>
              </a:rPr>
              <a:t>Policy precedent —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 i="0">
                <a:solidFill>
                  <a:srgbClr val="3B8FD9"/>
                </a:solidFill>
                <a:latin typeface="Arial"/>
              </a:rPr>
              <a:t>the approach is accepted here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17136"/>
            <a:ext cx="10835640" cy="65836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590288"/>
            <a:ext cx="4937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BC1C1C"/>
                </a:solidFill>
                <a:latin typeface="Arial"/>
              </a:rPr>
              <a:t>AND THE ONE THAT FAILED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09744"/>
            <a:ext cx="5029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C1B1A"/>
                </a:solidFill>
                <a:latin typeface="Arial"/>
              </a:rPr>
              <a:t>TradeLens (Maersk + IBM) shut down 2023 — competitors would not share data.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90288"/>
            <a:ext cx="5120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2E9E5B"/>
                </a:solidFill>
                <a:latin typeface="Arial"/>
              </a:rPr>
              <a:t>WHY THAT FAILURE MODE IS NOT 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809744"/>
            <a:ext cx="5120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C1B1A"/>
                </a:solidFill>
                <a:latin typeface="Arial"/>
              </a:rPr>
              <a:t>One organisation records its own custody chain. No rival has to agree to anything.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266944"/>
            <a:ext cx="10835640" cy="914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94959"/>
            <a:ext cx="10424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CBD31"/>
                </a:solidFill>
                <a:latin typeface="Arial"/>
              </a:rPr>
              <a:t>THE KPI THAT MOVED THERE, AND ITS EQUIVALENT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32703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D6D3CD"/>
                </a:solidFill>
                <a:latin typeface="Arial"/>
              </a:rPr>
              <a:t>Walmart asked: how long to trace one item's full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0" i="0">
                <a:solidFill>
                  <a:srgbClr val="D6D3CD"/>
                </a:solidFill>
                <a:latin typeface="Arial"/>
              </a:rPr>
              <a:t>history? Seven days became 2.2 seconds.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35040" y="5733288"/>
            <a:ext cx="365760" cy="164592"/>
          </a:xfrm>
          <a:prstGeom prst="rightArrow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5632703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We ask it of custody: who holds this, and is the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record intact? A manual check today — a read here.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Same mechanism, same class of result — but we have not measured ours in the field, and we are not borrowing their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2 · 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Every critical action comes down to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09728" cy="1207008"/>
          </a:xfrm>
          <a:prstGeom prst="rect">
            <a:avLst/>
          </a:prstGeom>
          <a:solidFill>
            <a:srgbClr val="3B8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67128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WHO ARE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79191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Is this a real, currently valid person — not just a card?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35000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3B8FD9"/>
                </a:solidFill>
                <a:latin typeface="Arial"/>
              </a:rPr>
              <a:t>Identity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19272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319272"/>
            <a:ext cx="109728" cy="1207008"/>
          </a:xfrm>
          <a:prstGeom prst="rect">
            <a:avLst/>
          </a:prstGeom>
          <a:solidFill>
            <a:srgbClr val="C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20440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WHAT ARE YOU ALLOWED TO DO?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032504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Being known is not the same as being allowed.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3703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C98A2E"/>
                </a:solidFill>
                <a:latin typeface="Arial"/>
              </a:rPr>
              <a:t>Permission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72583"/>
            <a:ext cx="10835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672583"/>
            <a:ext cx="109728" cy="120700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873751"/>
            <a:ext cx="6858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C1B1A"/>
                </a:solidFill>
                <a:latin typeface="Arial"/>
              </a:rPr>
              <a:t>CAN ANYONE PROVE WHAT HAPPENED?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385816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862"/>
                </a:solidFill>
                <a:latin typeface="Arial"/>
              </a:rPr>
              <a:t>Afterwards, can an outsider check it — and see if it changed?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5056631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700" b="1" i="0">
                <a:solidFill>
                  <a:srgbClr val="2E9E5B"/>
                </a:solidFill>
                <a:latin typeface="Arial"/>
              </a:rPr>
              <a:t>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135624"/>
            <a:ext cx="10835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C1B1A"/>
                </a:solidFill>
                <a:latin typeface="Arial"/>
              </a:rPr>
              <a:t>Miss any one and the action cannot be trusted. We built ChainID Vault around exactly these three.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The gate answered all three badly. So does most enterprise software.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ChainID Vault: verify the identity, enforce the permission, prove the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10835640" cy="1051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Arial"/>
              </a:rPr>
              <a:t>Anyone can prove who controls an asset — without trusting whoever runs the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3154680"/>
            <a:ext cx="3520440" cy="91440"/>
          </a:xfrm>
          <a:prstGeom prst="rect">
            <a:avLst/>
          </a:prstGeom>
          <a:solidFill>
            <a:srgbClr val="3B8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B8FD9"/>
                </a:solidFill>
                <a:latin typeface="Arial"/>
              </a:rPr>
              <a:t>VERIFY THE 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Not that a record exists — that this person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controls it, and that it is active right now.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3154680"/>
            <a:ext cx="3520440" cy="91440"/>
          </a:xfrm>
          <a:prstGeom prst="rect">
            <a:avLst/>
          </a:prstGeom>
          <a:solidFill>
            <a:srgbClr val="C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98A2E"/>
                </a:solidFill>
                <a:latin typeface="Arial"/>
              </a:rPr>
              <a:t>ENFORCE THE PERMISSION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The rule is applied every time, automatically.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Nobody has to remember to check.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154680"/>
            <a:ext cx="35204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154680"/>
            <a:ext cx="3520440" cy="914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1" y="341071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PROVE THE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3776472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The record can be checked by someone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outside the organisation entirely.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74920"/>
            <a:ext cx="10835640" cy="56692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21224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6B6862"/>
                </a:solidFill>
                <a:latin typeface="Arial"/>
              </a:rPr>
              <a:t>Notice what we have not mentioned yet: any technology at all.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What happens the moment somebody 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The diagram follows the action, not the components.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16916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Someone 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Issue this equipment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to this person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8600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68880" y="2331720"/>
            <a:ext cx="1691640" cy="1828800"/>
          </a:xfrm>
          <a:prstGeom prst="rect">
            <a:avLst/>
          </a:prstGeom>
          <a:solidFill>
            <a:srgbClr val="EAF3FB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Is the identity active?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Not 'did it ever exist'.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Active right now.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0624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2331720"/>
            <a:ext cx="1691640" cy="1828800"/>
          </a:xfrm>
          <a:prstGeom prst="rect">
            <a:avLst/>
          </a:prstGeom>
          <a:solidFill>
            <a:srgbClr val="FDF3E0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Is this allowed?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Does this identity hold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this permission?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2648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331720"/>
            <a:ext cx="1691640" cy="1828800"/>
          </a:xfrm>
          <a:prstGeom prst="rect">
            <a:avLst/>
          </a:prstGeom>
          <a:solidFill>
            <a:srgbClr val="F2F1EE"/>
          </a:solidFill>
          <a:ln w="12700">
            <a:solidFill>
              <a:srgbClr val="1C1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Refuse or allow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Automatic. Nobody has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to remember to check.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4672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331720"/>
            <a:ext cx="1691640" cy="18288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Record created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 receipt of what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actually happened.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966960" y="3154680"/>
            <a:ext cx="228600" cy="146304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49840" y="2331720"/>
            <a:ext cx="1691640" cy="18288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87000" y="2514600"/>
            <a:ext cx="1463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 i="0">
                <a:solidFill>
                  <a:srgbClr val="1C1B1A"/>
                </a:solidFill>
                <a:latin typeface="Arial"/>
              </a:rPr>
              <a:t>Anyone can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3136391"/>
            <a:ext cx="148132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Including people outside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 i="0">
                <a:solidFill>
                  <a:srgbClr val="6B6862"/>
                </a:solidFill>
                <a:latin typeface="Arial"/>
              </a:rPr>
              <a:t>the organisation.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11109960" cy="77724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59943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If either check fails, the action does not happen. Not a warning, not a note in a log for somebody to find later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the action does not happen.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367528"/>
            <a:ext cx="11109960" cy="566928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13831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50" b="0" i="0">
                <a:solidFill>
                  <a:srgbClr val="1C1B1A"/>
                </a:solidFill>
                <a:latin typeface="Arial"/>
              </a:rPr>
              <a:t>Only the last two steps need anything unusual. That is where our technology choice matters — and nowhere else.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3 · THE TECHNOLOGY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Blockchain is where we keep the proof, not the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One job, precisely defined. We are not claiming it is better at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0835640" cy="8686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1343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A database is excellent at storing and managing information. But for records that must survive a dispute, the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question is different: can the organisation that changes the record also rewrite its history, undetected?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00400"/>
            <a:ext cx="3520440" cy="2743200"/>
          </a:xfrm>
          <a:prstGeom prst="rect">
            <a:avLst/>
          </a:prstGeom>
          <a:solidFill>
            <a:srgbClr val="EAF3FB"/>
          </a:solidFill>
          <a:ln w="12700">
            <a:solidFill>
              <a:srgbClr val="3B8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B8FD9"/>
                </a:solidFill>
                <a:latin typeface="Arial"/>
              </a:rPr>
              <a:t>STAYS WHERE IT ALREADY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Personnel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Equipment spec sheets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982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Custody paperwork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091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Calibration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We are not asking anyone 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move their documents anywhere.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200400"/>
            <a:ext cx="3520440" cy="2743200"/>
          </a:xfrm>
          <a:prstGeom prst="rect">
            <a:avLst/>
          </a:prstGeom>
          <a:solidFill>
            <a:srgbClr val="FDF3E0"/>
          </a:solidFill>
          <a:ln w="12700">
            <a:solidFill>
              <a:srgbClr val="C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98A2E"/>
                </a:solidFill>
                <a:latin typeface="Arial"/>
              </a:rPr>
              <a:t>THE BRIDGE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A digital fingerprint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of each document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Change one character and the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fingerprint no longer matches.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3200400"/>
            <a:ext cx="3520440" cy="274320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41071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E9E5B"/>
                </a:solidFill>
                <a:latin typeface="Arial"/>
              </a:rPr>
              <a:t>ON THE 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77647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Who is a valid identity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08736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What each one may 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39826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Every asset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7091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C1B1A"/>
                </a:solidFill>
                <a:latin typeface="Arial"/>
              </a:rPr>
              <a:t>· Every status change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257800"/>
            <a:ext cx="3127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Small, and the only part that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 i="0">
                <a:solidFill>
                  <a:srgbClr val="6B6862"/>
                </a:solidFill>
                <a:latin typeface="Arial"/>
              </a:rPr>
              <a:t>must be tamper-evident.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279392" y="4434840"/>
            <a:ext cx="256032" cy="164592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7982712" y="4434840"/>
            <a:ext cx="256032" cy="164592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Runs today on a local chain. The deployment target is a permissioned network such as Hyperledger Besu.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4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Watch the system refuse something it should refuse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The contractor from slide 3. Engagement ended, identity revoked.</a:t>
            </a:r>
          </a:p>
        </p:txBody>
      </p:sp>
      <p:pic>
        <p:nvPicPr>
          <p:cNvPr id="7" name="Picture 6" descr="08-rejection.png"/>
          <p:cNvPicPr>
            <a:picLocks noChangeAspect="1"/>
          </p:cNvPicPr>
          <p:nvPr/>
        </p:nvPicPr>
        <p:blipFill>
          <a:blip r:embed="rId2"/>
          <a:srcRect b="45000"/>
          <a:stretch>
            <a:fillRect/>
          </a:stretch>
        </p:blipFill>
        <p:spPr>
          <a:xfrm>
            <a:off x="685800" y="2194560"/>
            <a:ext cx="6858000" cy="2788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94560"/>
            <a:ext cx="6858000" cy="278892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2194560"/>
            <a:ext cx="3749039" cy="2788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8431" y="242316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CBD31"/>
                </a:solidFill>
                <a:latin typeface="Arial"/>
              </a:rPr>
              <a:t>WHAT JUST HAPPENED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2770632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An administrator tried 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issue equipment to them.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3429000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1" i="0">
                <a:solidFill>
                  <a:srgbClr val="FCBD31"/>
                </a:solidFill>
                <a:latin typeface="Arial"/>
              </a:rPr>
              <a:t>The system refused.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4087368"/>
            <a:ext cx="3246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Not a warning. Not a note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Arial"/>
              </a:rPr>
              <a:t>in a log. It did not happen.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8431" y="4709160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FCBD31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5120640"/>
            <a:ext cx="10835640" cy="91440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303520"/>
            <a:ext cx="10332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The account that just tried holds every privilege in this system. It created that identity. It issued the original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BC1C1C"/>
                </a:solidFill>
                <a:latin typeface="Arial"/>
              </a:rPr>
              <a:t>equipment. It still cannot do this. A database administrator can always override the database. Here, nobody can.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Pause here. Let it sit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4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Now watch it allow something it should allow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Same action. Active identity, correct permission.</a:t>
            </a:r>
          </a:p>
        </p:txBody>
      </p:sp>
      <p:pic>
        <p:nvPicPr>
          <p:cNvPr id="7" name="Picture 6" descr="06-verify-authentic.png"/>
          <p:cNvPicPr>
            <a:picLocks noChangeAspect="1"/>
          </p:cNvPicPr>
          <p:nvPr/>
        </p:nvPicPr>
        <p:blipFill>
          <a:blip r:embed="rId2"/>
          <a:srcRect b="32000"/>
          <a:stretch>
            <a:fillRect/>
          </a:stretch>
        </p:blipFill>
        <p:spPr>
          <a:xfrm>
            <a:off x="685800" y="2194560"/>
            <a:ext cx="5349240" cy="2651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2194560"/>
            <a:ext cx="5349240" cy="265176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1032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6862"/>
                </a:solidFill>
                <a:latin typeface="Arial"/>
              </a:rPr>
              <a:t>The original custody document — verified</a:t>
            </a:r>
          </a:p>
        </p:txBody>
      </p:sp>
      <p:pic>
        <p:nvPicPr>
          <p:cNvPr id="10" name="Picture 9" descr="07-verify-tampered.png"/>
          <p:cNvPicPr>
            <a:picLocks noChangeAspect="1"/>
          </p:cNvPicPr>
          <p:nvPr/>
        </p:nvPicPr>
        <p:blipFill>
          <a:blip r:embed="rId3"/>
          <a:srcRect b="32000"/>
          <a:stretch>
            <a:fillRect/>
          </a:stretch>
        </p:blipFill>
        <p:spPr>
          <a:xfrm>
            <a:off x="6172200" y="2194560"/>
            <a:ext cx="5349240" cy="2651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2200" y="2194560"/>
            <a:ext cx="5349240" cy="2651760"/>
          </a:xfrm>
          <a:prstGeom prst="rect">
            <a:avLst/>
          </a:prstGeom>
          <a:noFill/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91032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6862"/>
                </a:solidFill>
                <a:latin typeface="Arial"/>
              </a:rPr>
              <a:t>One word changed: RESTRICTED → UNCLASSIFIED — rejected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303520"/>
            <a:ext cx="10835640" cy="77724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468112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Nobody decided the second one was fake. Two fingerprints differ. That is arithmetic, not judgement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and this screen has no login, so someone who does not trust us can still run the check.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One thing absent from the history: the refused attempts. Nothing was allowed to happen, so nothing was recorded.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We attacked our own system and it broke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6B6862"/>
                </a:solidFill>
                <a:latin typeface="Arial"/>
              </a:rPr>
              <a:t>A red banner in our own interface proves nothing. So we switched the interface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6400800" cy="23317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CBD31"/>
                </a:solidFill>
                <a:latin typeface="Consolas"/>
              </a:rPr>
              <a:t>$ npx hardhat run scripts/prove-it.ts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Contractor tries to issue equipment, UI bypassed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5351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BY THE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Asset moved to an unregistered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— recipient not an active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D6D3CD"/>
                </a:solidFill>
                <a:latin typeface="Consolas"/>
              </a:rPr>
              <a:t>  ADMIN issues to a revoked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050791"/>
            <a:ext cx="5943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   REFUSED — even for the administrator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42231"/>
            <a:ext cx="5943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FCBD31"/>
                </a:solidFill>
                <a:latin typeface="Consolas"/>
              </a:rPr>
              <a:t>The web app was never running.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automated tests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passing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42248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42248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flaws we found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in our own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23576" y="214884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23576" y="228600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C1B1A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23576" y="27889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kinds of invalid action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950" b="0" i="0">
                <a:solidFill>
                  <a:srgbClr val="6B6862"/>
                </a:solidFill>
                <a:latin typeface="Arial"/>
              </a:rPr>
              <a:t>refused on-chain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20" y="3383280"/>
            <a:ext cx="4160520" cy="1097280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538728"/>
            <a:ext cx="374903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In the worst one, an asset could leave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the system entirely — and the audit log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showed nothing at all. We fixed it. The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0" i="0">
                <a:solidFill>
                  <a:srgbClr val="1C1B1A"/>
                </a:solidFill>
                <a:latin typeface="Arial"/>
              </a:rPr>
              <a:t>attacks are now tests that must keep failing.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8463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We did not only test that valid actions work. We tested that invalid ones are stopped —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1" i="0">
                <a:solidFill>
                  <a:srgbClr val="1C1B1A"/>
                </a:solidFill>
                <a:latin typeface="Arial"/>
              </a:rPr>
              <a:t>replay, impersonation, expired proofs, revoked identities, tampered documents.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From trusting records to proving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2199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"The system says this happened."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06440" y="2295144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965960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221991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"The record can be independently checked."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907791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6382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"An administrator decides whether to allow it."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3236975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2907791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163824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"The rules enforce themselves."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9624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056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"History lives inside one system."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06440" y="4178808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3849624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105656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"Critical actions leave a tamper-evident trail."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791456"/>
            <a:ext cx="4937760" cy="841248"/>
          </a:xfrm>
          <a:prstGeom prst="rect">
            <a:avLst/>
          </a:prstGeom>
          <a:solidFill>
            <a:srgbClr val="FDECEC"/>
          </a:solidFill>
          <a:ln w="12700">
            <a:solidFill>
              <a:srgbClr val="BC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0" i="0">
                <a:solidFill>
                  <a:srgbClr val="BC1C1C"/>
                </a:solidFill>
                <a:latin typeface="Arial"/>
              </a:rPr>
              <a:t>"They left, but the record still says they hold it."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5120640"/>
            <a:ext cx="457200" cy="182880"/>
          </a:xfrm>
          <a:prstGeom prst="rightArrow">
            <a:avLst/>
          </a:prstGeom>
          <a:solidFill>
            <a:srgbClr val="1C1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46520" y="4791456"/>
            <a:ext cx="5074920" cy="841248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504748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50" b="1" i="0">
                <a:solidFill>
                  <a:srgbClr val="2E9E5B"/>
                </a:solidFill>
                <a:latin typeface="Arial"/>
              </a:rPr>
              <a:t>"A revoked identity cannot hold or receive."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870448"/>
            <a:ext cx="10835640" cy="7315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603504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What changes is not the screens. It is who has to be trusted for the record to mean anything.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No percentages here. We have not measured any, and we will not invent them.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6B6862"/>
                </a:solidFill>
                <a:latin typeface="Arial"/>
              </a:rPr>
              <a:t>SPEAKER 5 ·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900" b="1" i="0">
                <a:solidFill>
                  <a:srgbClr val="1C1B1A"/>
                </a:solidFill>
                <a:latin typeface="Arial"/>
              </a:rPr>
              <a:t>What we can honestly claim, and what we cannot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1005840" cy="50292"/>
          </a:xfrm>
          <a:prstGeom prst="rect">
            <a:avLst/>
          </a:prstGeom>
          <a:solidFill>
            <a:srgbClr val="FCB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303520" cy="2468880"/>
          </a:xfrm>
          <a:prstGeom prst="rect">
            <a:avLst/>
          </a:prstGeom>
          <a:solidFill>
            <a:srgbClr val="E7F4EC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9E5B"/>
                </a:solidFill>
                <a:latin typeface="Arial"/>
              </a:rPr>
              <a:t>BUILT AND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2316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Identity lifecycle — create, suspend, revoke, rotate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8892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Permissions enforced by the system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546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Asset custody bound to an active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204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52044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Independent verification, no login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88620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886200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45 automated tests · 3 flaws found and fixed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874519"/>
            <a:ext cx="5349240" cy="2468880"/>
          </a:xfrm>
          <a:prstGeom prst="rect">
            <a:avLst/>
          </a:prstGeom>
          <a:solidFill>
            <a:srgbClr val="F2F1EE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075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B6862"/>
                </a:solidFill>
                <a:latin typeface="Arial"/>
              </a:rPr>
              <a:t>WE ARE NOT CLAIMING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2316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231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Measured reduction in inventory loss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78892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7889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Measured reduction in breaches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15468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1546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Deployment inside 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52044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520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Production-scale field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886200"/>
            <a:ext cx="201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B6862"/>
                </a:solidFill>
                <a:latin typeface="Arial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8862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50" b="0" i="0">
                <a:solidFill>
                  <a:srgbClr val="1C1B1A"/>
                </a:solidFill>
                <a:latin typeface="Arial"/>
              </a:rPr>
              <a:t>That we have solved trust — only that we made it checkable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26280"/>
            <a:ext cx="1083564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70916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D6D3CD"/>
                </a:solidFill>
                <a:latin typeface="Arial"/>
              </a:rPr>
              <a:t>So — who can prove who controls this asset right now?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CBD31"/>
                </a:solidFill>
                <a:latin typeface="Arial"/>
              </a:rPr>
              <a:t>Don't just record what happened. Make it provable.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2910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6B6862"/>
                </a:solidFill>
                <a:latin typeface="Arial"/>
              </a:rPr>
              <a:t>Stop here. Do not say "thank you, any questions". Let it land.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