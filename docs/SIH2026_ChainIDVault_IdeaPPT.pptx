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82" y="11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 algn="l" indent="0" marL="0">
              <a:spcAft>
                <a:spcPts val="200"/>
              </a:spcAft>
              <a:buNone/>
            </a:pPr>
            <a:r>
              <a:rPr sz="2800" b="1">
                <a:solidFill>
                  <a:srgbClr val="1F3064"/>
                </a:solidFill>
                <a:latin typeface="Times New Roman"/>
              </a:rPr>
              <a:t>ChainID Vault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 indent="0" marL="0">
              <a:spcAft>
                <a:spcPts val="200"/>
              </a:spcAft>
              <a:buNone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Tamper-proof custody of identity, access and assets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marL="0">
              <a:spcAft>
                <a:spcPts val="900"/>
              </a:spcAft>
              <a:buNone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Problem Statement ID – </a:t>
            </a:r>
            <a:r>
              <a:rPr sz="1600">
                <a:solidFill>
                  <a:srgbClr val="000000"/>
                </a:solidFill>
                <a:latin typeface="Times New Roman"/>
              </a:rPr>
              <a:t>SIH26125</a:t>
            </a:r>
            <a:endParaRPr lang="en-US" dirty="0"/>
          </a:p>
          <a:p>
            <a:pPr indent="0" marL="0">
              <a:spcAft>
                <a:spcPts val="900"/>
              </a:spcAft>
              <a:buNone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Problem Statement Title – </a:t>
            </a:r>
            <a:r>
              <a:rPr sz="1600">
                <a:solidFill>
                  <a:srgbClr val="000000"/>
                </a:solidFill>
                <a:latin typeface="Times New Roman"/>
              </a:rPr>
              <a:t>Blockchain-Based Secure Platform for Identity, Access Control, and Digital Asset Management</a:t>
            </a:r>
          </a:p>
          <a:p>
            <a:pPr indent="0" marL="0">
              <a:spcAft>
                <a:spcPts val="900"/>
              </a:spcAft>
              <a:buNone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Theme – </a:t>
            </a:r>
            <a:r>
              <a:rPr sz="1600">
                <a:solidFill>
                  <a:srgbClr val="000000"/>
                </a:solidFill>
                <a:latin typeface="Times New Roman"/>
              </a:rPr>
              <a:t>Blockchain &amp; Cybersecurity</a:t>
            </a:r>
          </a:p>
          <a:p>
            <a:pPr indent="0" marL="0">
              <a:spcAft>
                <a:spcPts val="900"/>
              </a:spcAft>
              <a:buNone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PS Category – </a:t>
            </a:r>
            <a:r>
              <a:rPr sz="1600">
                <a:solidFill>
                  <a:srgbClr val="000000"/>
                </a:solidFill>
                <a:latin typeface="Times New Roman"/>
              </a:rPr>
              <a:t>Software</a:t>
            </a:r>
          </a:p>
          <a:p>
            <a:pPr indent="0" marL="0">
              <a:spcAft>
                <a:spcPts val="900"/>
              </a:spcAft>
              <a:buNone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Team ID – </a:t>
            </a:r>
            <a:r>
              <a:rPr sz="1600">
                <a:solidFill>
                  <a:srgbClr val="000000"/>
                </a:solidFill>
                <a:latin typeface="Times New Roman"/>
              </a:rPr>
              <a:t>[ENTER TEAM ID]</a:t>
            </a:r>
          </a:p>
          <a:p>
            <a:pPr indent="0" marL="0">
              <a:spcAft>
                <a:spcPts val="900"/>
              </a:spcAft>
              <a:buNone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Team Name (Registered on portal) – </a:t>
            </a:r>
            <a:r>
              <a:rPr sz="1600">
                <a:solidFill>
                  <a:srgbClr val="000000"/>
                </a:solidFill>
                <a:latin typeface="Times New Roman"/>
              </a:rPr>
              <a:t>[ENTER TEAM NAME]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532120" cy="4709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spcAft>
                <a:spcPts val="200"/>
              </a:spcAft>
              <a:buFont typeface="Wingdings" panose="05000000000000000000" pitchFamily="2" charset="2"/>
              <a:buNone/>
            </a:pPr>
            <a:r>
              <a:rPr sz="1300" b="1">
                <a:solidFill>
                  <a:srgbClr val="1F3064"/>
                </a:solidFill>
                <a:latin typeface="Times New Roman"/>
              </a:rPr>
              <a:t>ChainID Vault — identity, access and asset custody enforced inside smart contracts, not inside an editable database.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Proposed Solution (Describe your Idea/Solution/Prototype)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Every identity, role grant and custody record is written on a permissioned blockchain.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Identity = keypair + lifecycle status (Active / Suspended / Revoked) + hash of an off-chain record.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Asset = ERC-721 token for one controlled item, bound to a verified identity.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Sensitive documents stay off-chain; only a keccak256 fingerprint is anchored.</a:t>
            </a:r>
          </a:p>
          <a:p>
            <a:pPr algn="l" indent="0" marL="0">
              <a:spcBef>
                <a:spcPts val="70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How it addresses the problem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No database row exists for a role, an owner or a log entry, so none can be edited.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A revoked identity cannot receive an asset by any route — one enforcement chokepoint.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The audit trail is the chain's append-only event log; it cannot be selectively deleted.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Any third party verifies an asset with no account and no trust in the operator.</a:t>
            </a:r>
          </a:p>
          <a:p>
            <a:pPr algn="l" indent="0" marL="0">
              <a:spcBef>
                <a:spcPts val="70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Innovation and uniqueness of the solution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Single-chokepoint enforcement closes the ERC-721 transfer bypass most implementations leave open.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EIP-712 proof of control: single-use, time-bound, domain-separated — replay-proof.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Even the administrator who created an identity cannot override the rules.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6355080" y="1051560"/>
            <a:ext cx="5257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THE THREE GOVERNED ENTITIES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6355080" y="1325880"/>
            <a:ext cx="52578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1F3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Rectangle 15364"/>
          <p:cNvSpPr/>
          <p:nvPr/>
        </p:nvSpPr>
        <p:spPr>
          <a:xfrm>
            <a:off x="6355080" y="1325880"/>
            <a:ext cx="82296" cy="749808"/>
          </a:xfrm>
          <a:prstGeom prst="rect">
            <a:avLst/>
          </a:prstGeom>
          <a:solidFill>
            <a:srgbClr val="1F3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6583680" y="1426464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F3064"/>
                </a:solidFill>
                <a:latin typeface="Times New Roman"/>
              </a:rPr>
              <a:t>IDENTITY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6583680" y="165506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5A5751"/>
                </a:solidFill>
                <a:latin typeface="Times New Roman"/>
              </a:rPr>
              <a:t>Recognised keypair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5A5751"/>
                </a:solidFill>
                <a:latin typeface="Times New Roman"/>
              </a:rPr>
              <a:t>Active / Suspended / Revoked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6355080" y="2194560"/>
            <a:ext cx="52578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1E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ectangle 15368"/>
          <p:cNvSpPr/>
          <p:nvPr/>
        </p:nvSpPr>
        <p:spPr>
          <a:xfrm>
            <a:off x="6355080" y="2194560"/>
            <a:ext cx="82296" cy="749808"/>
          </a:xfrm>
          <a:prstGeom prst="rect">
            <a:avLst/>
          </a:prstGeom>
          <a:solidFill>
            <a:srgbClr val="1E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6583680" y="2295144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E6B3A"/>
                </a:solidFill>
                <a:latin typeface="Times New Roman"/>
              </a:rPr>
              <a:t>ASSET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6583680" y="252374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5A5751"/>
                </a:solidFill>
                <a:latin typeface="Times New Roman"/>
              </a:rPr>
              <a:t>ERC-721 token for one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5A5751"/>
                </a:solidFill>
                <a:latin typeface="Times New Roman"/>
              </a:rPr>
              <a:t>controlled physical item</a:t>
            </a:r>
          </a:p>
        </p:txBody>
      </p:sp>
      <p:sp>
        <p:nvSpPr>
          <p:cNvPr id="15372" name="Rectangle 15371"/>
          <p:cNvSpPr/>
          <p:nvPr/>
        </p:nvSpPr>
        <p:spPr>
          <a:xfrm>
            <a:off x="6355080" y="3063239"/>
            <a:ext cx="52578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ectangle 15372"/>
          <p:cNvSpPr/>
          <p:nvPr/>
        </p:nvSpPr>
        <p:spPr>
          <a:xfrm>
            <a:off x="6355080" y="3063239"/>
            <a:ext cx="82296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TextBox 15373"/>
          <p:cNvSpPr txBox="1"/>
          <p:nvPr/>
        </p:nvSpPr>
        <p:spPr>
          <a:xfrm>
            <a:off x="6583680" y="3163823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B45309"/>
                </a:solidFill>
                <a:latin typeface="Times New Roman"/>
              </a:rPr>
              <a:t>ROLE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6583680" y="3392423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5A5751"/>
                </a:solidFill>
                <a:latin typeface="Times New Roman"/>
              </a:rPr>
              <a:t>Admin · Manager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5A5751"/>
                </a:solidFill>
                <a:latin typeface="Times New Roman"/>
              </a:rPr>
              <a:t>Auditor · User</a:t>
            </a:r>
          </a:p>
        </p:txBody>
      </p:sp>
      <p:sp>
        <p:nvSpPr>
          <p:cNvPr id="15376" name="Down Arrow 15375"/>
          <p:cNvSpPr/>
          <p:nvPr/>
        </p:nvSpPr>
        <p:spPr>
          <a:xfrm>
            <a:off x="8892540" y="1837943"/>
            <a:ext cx="182880" cy="82296"/>
          </a:xfrm>
          <a:prstGeom prst="downArrow">
            <a:avLst/>
          </a:prstGeom>
          <a:solidFill>
            <a:srgbClr val="1F3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Down Arrow 15376"/>
          <p:cNvSpPr/>
          <p:nvPr/>
        </p:nvSpPr>
        <p:spPr>
          <a:xfrm>
            <a:off x="8892540" y="2706624"/>
            <a:ext cx="182880" cy="82296"/>
          </a:xfrm>
          <a:prstGeom prst="downArrow">
            <a:avLst/>
          </a:prstGeom>
          <a:solidFill>
            <a:srgbClr val="1F3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Rectangle 15377"/>
          <p:cNvSpPr/>
          <p:nvPr/>
        </p:nvSpPr>
        <p:spPr>
          <a:xfrm>
            <a:off x="6355080" y="3977639"/>
            <a:ext cx="525780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TextBox 15378"/>
          <p:cNvSpPr txBox="1"/>
          <p:nvPr/>
        </p:nvSpPr>
        <p:spPr>
          <a:xfrm>
            <a:off x="6556248" y="4133087"/>
            <a:ext cx="485546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THE INVARIANT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6556248" y="4389120"/>
            <a:ext cx="4855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An asset may only ever be held by an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active identity — enforced in _update, the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one function every mint, transfer and burn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passes through.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6355080" y="5468112"/>
            <a:ext cx="5257800" cy="658368"/>
          </a:xfrm>
          <a:prstGeom prst="rect">
            <a:avLst/>
          </a:prstGeom>
          <a:solidFill>
            <a:srgbClr val="E8F3EC"/>
          </a:solidFill>
          <a:ln w="9525">
            <a:solidFill>
              <a:srgbClr val="1E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2" name="TextBox 15381"/>
          <p:cNvSpPr txBox="1"/>
          <p:nvPr/>
        </p:nvSpPr>
        <p:spPr>
          <a:xfrm>
            <a:off x="6556248" y="5614416"/>
            <a:ext cx="48554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050" b="1">
                <a:solidFill>
                  <a:srgbClr val="1E6B3A"/>
                </a:solidFill>
                <a:latin typeface="Times New Roman"/>
              </a:rPr>
              <a:t>Working prototype · 45 automated contract tests passing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050" b="1">
                <a:solidFill>
                  <a:srgbClr val="1E6B3A"/>
                </a:solidFill>
                <a:latin typeface="Times New Roman"/>
              </a:rPr>
              <a:t>6 screens · full custody workflow demonstrated live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532120" cy="4709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l">
              <a:spcAft>
                <a:spcPts val="200"/>
              </a:spcAft>
              <a:buFont typeface="Arial" panose="020B0604020202020204" pitchFamily="34" charset="0"/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Technologies to be used (e.g. programming languages, frameworks, hardware)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Contracts: Solidity 0.8.24, OpenZeppelin 5.6 (AccessControl, ERC-721 Enumerable), Hardhat.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Frontend: React 18, Vite, Tailwind, ethers.js v6 — the browser calls contracts directly.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Cryptography: EIP-712 typed-data signatures; keccak256 document anchoring.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No backend server and no database — deliberately, see the architecture opposite.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Deployment target: permissioned EVM chain (Hyperledger Besu / Quorum).</a:t>
            </a:r>
          </a:p>
          <a:p>
            <a:pPr algn="l"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Methodology and process for implementation (Flow Charts / Images / working prototype)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Two contracts: IdentityRegistry governs lifecycle and proof of control; AssetNFT governs custody and calls the registry before every movement.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The full contractor custody pipeline runs live, end to end, in the prototype.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45 tests including negative cases: replay, impersonation, expiry, tampering.</a:t>
            </a:r>
          </a:p>
          <a:p>
            <a:pPr algn="l"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A61B1B"/>
                </a:solidFill>
                <a:latin typeface="Times New Roman"/>
              </a:rPr>
              <a:t>Verified refusals demonstrated on-chain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A61B1B"/>
                </a:solidFill>
                <a:latin typeface="Times New Roman"/>
              </a:rPr>
              <a:t>•  Non-admin cannot issue · non-admin cannot suspend an identity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A61B1B"/>
                </a:solidFill>
                <a:latin typeface="Times New Roman"/>
              </a:rPr>
              <a:t>•  Suspended identity cannot receive · tampered document fails verification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6355080" y="1051560"/>
            <a:ext cx="5257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6355080" y="1325880"/>
            <a:ext cx="52578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537960" y="1435607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Times New Roman"/>
              </a:rPr>
              <a:t>BROWSER — React + ethers.js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537960" y="1673352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5A5751"/>
                </a:solidFill>
                <a:latin typeface="Times New Roman"/>
              </a:rPr>
              <a:t>Six screens. Holds no authority.</a:t>
            </a:r>
          </a:p>
        </p:txBody>
      </p:sp>
      <p:sp>
        <p:nvSpPr>
          <p:cNvPr id="17415" name="Down Arrow 17414"/>
          <p:cNvSpPr/>
          <p:nvPr/>
        </p:nvSpPr>
        <p:spPr>
          <a:xfrm>
            <a:off x="8892540" y="2057400"/>
            <a:ext cx="182880" cy="146304"/>
          </a:xfrm>
          <a:prstGeom prst="downArrow">
            <a:avLst/>
          </a:prstGeom>
          <a:solidFill>
            <a:srgbClr val="1F3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9130284" y="2057400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5A5751"/>
                </a:solidFill>
                <a:latin typeface="Times New Roman"/>
              </a:rPr>
              <a:t>JSON-RPC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6355080" y="2286000"/>
            <a:ext cx="5257800" cy="1143000"/>
          </a:xfrm>
          <a:prstGeom prst="rect">
            <a:avLst/>
          </a:prstGeom>
          <a:solidFill>
            <a:srgbClr val="1F3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537960" y="2404872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PERMISSIONED CHAIN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537960" y="2651760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Times New Roman"/>
              </a:rPr>
              <a:t>IdentityRegistry.sol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537960" y="2880360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Times New Roman"/>
              </a:rPr>
              <a:t>AssetNFT.sol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537960" y="3136391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>
                <a:solidFill>
                  <a:srgbClr val="C8CEDC"/>
                </a:solidFill>
                <a:latin typeface="Times New Roman"/>
              </a:rPr>
              <a:t>All authority lives here</a:t>
            </a:r>
          </a:p>
        </p:txBody>
      </p:sp>
      <p:sp>
        <p:nvSpPr>
          <p:cNvPr id="17422" name="Down Arrow 17421"/>
          <p:cNvSpPr/>
          <p:nvPr/>
        </p:nvSpPr>
        <p:spPr>
          <a:xfrm>
            <a:off x="8892540" y="3474720"/>
            <a:ext cx="182880" cy="146304"/>
          </a:xfrm>
          <a:prstGeom prst="downArrow">
            <a:avLst/>
          </a:prstGeom>
          <a:solidFill>
            <a:srgbClr val="1F3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ectangle 17422"/>
          <p:cNvSpPr/>
          <p:nvPr/>
        </p:nvSpPr>
        <p:spPr>
          <a:xfrm>
            <a:off x="6355080" y="3703320"/>
            <a:ext cx="5257800" cy="65836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6537960" y="3813048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Times New Roman"/>
              </a:rPr>
              <a:t>ANY VERIFIER — no account required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537960" y="4050791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5A5751"/>
                </a:solidFill>
                <a:latin typeface="Times New Roman"/>
              </a:rPr>
              <a:t>Reads the same record without trusting us.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355080" y="4507992"/>
            <a:ext cx="5257800" cy="1234440"/>
          </a:xfrm>
          <a:prstGeom prst="rect">
            <a:avLst/>
          </a:prstGeom>
          <a:solidFill>
            <a:srgbClr val="FBE9E9"/>
          </a:solidFill>
          <a:ln w="9525">
            <a:solidFill>
              <a:srgbClr val="A6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537960" y="4636008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A61B1B"/>
                </a:solidFill>
                <a:latin typeface="Times New Roman"/>
              </a:rPr>
              <a:t>DELIBERATELY ABSENT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537960" y="487375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Times New Roman"/>
              </a:rPr>
              <a:t>No backend server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321040" y="488289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>
                <a:solidFill>
                  <a:srgbClr val="5A5751"/>
                </a:solidFill>
                <a:latin typeface="Times New Roman"/>
              </a:rPr>
              <a:t>nothing between user and chain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537960" y="514807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Times New Roman"/>
              </a:rPr>
              <a:t>No database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321040" y="51572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>
                <a:solidFill>
                  <a:srgbClr val="5A5751"/>
                </a:solidFill>
                <a:latin typeface="Times New Roman"/>
              </a:rPr>
              <a:t>no editable row for role, owner or log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537960" y="542239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Times New Roman"/>
              </a:rPr>
              <a:t>No public network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321040" y="543153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>
                <a:solidFill>
                  <a:srgbClr val="5A5751"/>
                </a:solidFill>
                <a:latin typeface="Times New Roman"/>
              </a:rPr>
              <a:t>permissioned chain, no gas, no exposure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532120" cy="4709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Working prototype exists: two contracts, six screens, 45 passing tests.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Built on audited OpenZeppelin libraries — no novel cryptography.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Runs on a permissioned chain: no public network, no gas cost, no external dependency.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Adoption is incremental — can run alongside an existing stores register before replacing it.</a:t>
            </a:r>
          </a:p>
          <a:p>
            <a:pPr algn="l"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Potential challenges and risks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Administrator key compromise — one key currently holds full authority.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On-chain read cost grows with registry size.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The chain proves the integrity of the record, not the identity of the physical object.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Key loss would otherwise strand an identity and the assets it holds.</a:t>
            </a:r>
          </a:p>
          <a:p>
            <a:pPr algn="l"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Strategies for overcoming these challenges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Multi-signature control with a timelock for the administrative role.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Paginated on-chain reads (implemented) plus an off-chain indexer at scale.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Tamper-evident physical tagging bound to the asset identifier.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On-chain key rotation preserving identity continuity (implemented).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6355080" y="1051560"/>
            <a:ext cx="5257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THE DOCUMENTED CASE THIS IS BUILT FOR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6355080" y="1307592"/>
            <a:ext cx="5257800" cy="1481328"/>
          </a:xfrm>
          <a:prstGeom prst="rect">
            <a:avLst/>
          </a:prstGeom>
          <a:solidFill>
            <a:srgbClr val="FBE9E9"/>
          </a:solidFill>
          <a:ln w="9525">
            <a:solidFill>
              <a:srgbClr val="A6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537960" y="1435607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A61B1B"/>
                </a:solidFill>
                <a:latin typeface="Times New Roman"/>
              </a:rPr>
              <a:t>Ordnance Factory Board (now seven defence PSUs)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537960" y="1709928"/>
            <a:ext cx="4892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CAG Audit Report No. 10 of 2024 found stores-in-hand of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₹6,172 crore at 31 March 2021, of which ₹1,237 crore was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non-active — non-moving, slow-moving, surplus, scrap or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obsolete. Holding rose from 214 to 344 days of consumption.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6355080" y="2880360"/>
            <a:ext cx="5257800" cy="749808"/>
          </a:xfrm>
          <a:prstGeom prst="rect">
            <a:avLst/>
          </a:prstGeom>
          <a:solidFill>
            <a:srgbClr val="FBE9E9"/>
          </a:solidFill>
          <a:ln w="9525">
            <a:solidFill>
              <a:srgbClr val="A6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537960" y="299923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A61B1B"/>
                </a:solidFill>
                <a:latin typeface="Times New Roman"/>
              </a:rPr>
              <a:t>And it persists after corporatisation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537960" y="3246120"/>
            <a:ext cx="4892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CAG Report No. 34: 21% of stores-in-hand — ₹330 crore across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four sampled factories — still non-active at 31 March 2023.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6355080" y="3739896"/>
            <a:ext cx="5257800" cy="9601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537960" y="3858768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WHY THIS IS OUR PROBLEM STATEMENT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537960" y="4105656"/>
            <a:ext cx="48920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Stock nobody can reconcile is a custody-record failure, not a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warehouse failure. The register and the physical reality diverged,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and no party could independently prove which was correct.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355080" y="4809744"/>
            <a:ext cx="5257800" cy="932688"/>
          </a:xfrm>
          <a:prstGeom prst="rect">
            <a:avLst/>
          </a:prstGeom>
          <a:solidFill>
            <a:srgbClr val="E8F3EC"/>
          </a:solidFill>
          <a:ln w="9525">
            <a:solidFill>
              <a:srgbClr val="1E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37960" y="4928616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E6B3A"/>
                </a:solidFill>
                <a:latin typeface="Times New Roman"/>
              </a:rPr>
              <a:t>THE ACCESS SIDE OF THE SAME PROBLEM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537960" y="5175504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Only 48% of organisations know whether former staff still hold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access; 20% suffered a breach as a result (USENIX Security, 2025).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Stolen credentials are the top initial vector — 22% (Verizon DBIR 2025).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532120" cy="4709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Potential impact on the target audience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Security administrators: revocation is immediate and cannot be bypassed, including by them.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Stores and custody officers: one verifiable record instead of a register and paperwork that disagree.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Internal auditors: full history reconstructable without trusting the operator's own copy.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External verifiers and receiving officers: confirm authenticity with no account and no login.</a:t>
            </a:r>
          </a:p>
          <a:p>
            <a:pPr algn="l"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Benefits of the solution (social, economic, environmental, etc.)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Security: authorisation lives in contract code — a compromised database cannot grant privilege or rewrite history.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Economic: directly targets the reconciliation failure behind ₹1,237 crore of non-active defence stores (CAG, 2024).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Operational: enforced offboarding closes the gap that opens every time somebody leaves.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Compliance and privacy: tamper-evident custody chain, while personal data stays off-chain and erasable.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100" b="0">
                <a:solidFill>
                  <a:srgbClr val="000000"/>
                </a:solidFill>
                <a:latin typeface="Times New Roman"/>
              </a:rPr>
              <a:t>•  Strategic: a defensible custody trail for sensitive equipment across sites, contractors and vendors.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6355080" y="1051560"/>
            <a:ext cx="5257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BEFORE AND AFTER, ON THE SAME KPIS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6355080" y="1325880"/>
            <a:ext cx="5257800" cy="274320"/>
          </a:xfrm>
          <a:prstGeom prst="rect">
            <a:avLst/>
          </a:prstGeom>
          <a:solidFill>
            <a:srgbClr val="1F3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464808" y="1380744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Times New Roman"/>
              </a:rPr>
              <a:t>KPI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366760" y="1380744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Times New Roman"/>
              </a:rPr>
              <a:t>TODAY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0012680" y="1380744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Times New Roman"/>
              </a:rPr>
              <a:t>WITH CHAINID VAULT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355080" y="1600200"/>
            <a:ext cx="52578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464808" y="1655064"/>
            <a:ext cx="18288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00000"/>
                </a:solidFill>
                <a:latin typeface="Times New Roman"/>
              </a:rPr>
              <a:t>Custody record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366760" y="1655064"/>
            <a:ext cx="16002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A61B1B"/>
                </a:solidFill>
                <a:latin typeface="Times New Roman"/>
              </a:rPr>
              <a:t>Editable row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0012680" y="165506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1E6B3A"/>
                </a:solidFill>
                <a:latin typeface="Times New Roman"/>
              </a:rPr>
              <a:t>Append-only ledger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6355080" y="1901952"/>
            <a:ext cx="5257800" cy="3017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464808" y="1956816"/>
            <a:ext cx="18288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00000"/>
                </a:solidFill>
                <a:latin typeface="Times New Roman"/>
              </a:rPr>
              <a:t>Reconciliation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366760" y="1956816"/>
            <a:ext cx="16002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A61B1B"/>
                </a:solidFill>
                <a:latin typeface="Times New Roman"/>
              </a:rPr>
              <a:t>Periodic, manual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0012680" y="195681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1E6B3A"/>
                </a:solidFill>
                <a:latin typeface="Times New Roman"/>
              </a:rPr>
              <a:t>Continuous — the ledger is the record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6355080" y="2203704"/>
            <a:ext cx="5257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464808" y="2258568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00000"/>
                </a:solidFill>
                <a:latin typeface="Times New Roman"/>
              </a:rPr>
              <a:t>Offboarding gap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366760" y="2258568"/>
            <a:ext cx="1600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A61B1B"/>
                </a:solidFill>
                <a:latin typeface="Times New Roman"/>
              </a:rPr>
              <a:t>Access removed,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A61B1B"/>
                </a:solidFill>
                <a:latin typeface="Times New Roman"/>
              </a:rPr>
              <a:t>assets still held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0012680" y="2258568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1E6B3A"/>
                </a:solidFill>
                <a:latin typeface="Times New Roman"/>
              </a:rPr>
              <a:t>Revoked identity cannot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1E6B3A"/>
                </a:solidFill>
                <a:latin typeface="Times New Roman"/>
              </a:rPr>
              <a:t>hold or receive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6355080" y="2624328"/>
            <a:ext cx="5257800" cy="3017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6464808" y="2679192"/>
            <a:ext cx="18288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00000"/>
                </a:solidFill>
                <a:latin typeface="Times New Roman"/>
              </a:rPr>
              <a:t>Independent check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366760" y="2679192"/>
            <a:ext cx="16002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A61B1B"/>
                </a:solidFill>
                <a:latin typeface="Times New Roman"/>
              </a:rPr>
              <a:t>Not possible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0012680" y="267919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1E6B3A"/>
                </a:solidFill>
                <a:latin typeface="Times New Roman"/>
              </a:rPr>
              <a:t>Any party, no login</a:t>
            </a:r>
          </a:p>
        </p:txBody>
      </p:sp>
      <p:sp>
        <p:nvSpPr>
          <p:cNvPr id="17432" name="Rectangle 17431"/>
          <p:cNvSpPr/>
          <p:nvPr/>
        </p:nvSpPr>
        <p:spPr>
          <a:xfrm>
            <a:off x="6355080" y="2926080"/>
            <a:ext cx="5257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6464808" y="2980944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00000"/>
                </a:solidFill>
                <a:latin typeface="Times New Roman"/>
              </a:rPr>
              <a:t>Time to block a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00000"/>
                </a:solidFill>
                <a:latin typeface="Times New Roman"/>
              </a:rPr>
              <a:t>revoked holder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366760" y="2980944"/>
            <a:ext cx="1600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A61B1B"/>
                </a:solidFill>
                <a:latin typeface="Times New Roman"/>
              </a:rPr>
              <a:t>Process-dependent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0012680" y="2980944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1E6B3A"/>
                </a:solidFill>
                <a:latin typeface="Times New Roman"/>
              </a:rPr>
              <a:t>One transaction</a:t>
            </a:r>
          </a:p>
        </p:txBody>
      </p:sp>
      <p:sp>
        <p:nvSpPr>
          <p:cNvPr id="17436" name="Rectangle 17435"/>
          <p:cNvSpPr/>
          <p:nvPr/>
        </p:nvSpPr>
        <p:spPr>
          <a:xfrm>
            <a:off x="6355080" y="3346704"/>
            <a:ext cx="5257800" cy="3017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6464808" y="3401568"/>
            <a:ext cx="18288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00000"/>
                </a:solidFill>
                <a:latin typeface="Times New Roman"/>
              </a:rPr>
              <a:t>Audit evidence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8366760" y="3401568"/>
            <a:ext cx="16002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A61B1B"/>
                </a:solidFill>
                <a:latin typeface="Times New Roman"/>
              </a:rPr>
              <a:t>Operator's own copy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10012680" y="3401568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1E6B3A"/>
                </a:solidFill>
                <a:latin typeface="Times New Roman"/>
              </a:rPr>
              <a:t>Chain, verifiable by anyone</a:t>
            </a:r>
          </a:p>
        </p:txBody>
      </p:sp>
      <p:sp>
        <p:nvSpPr>
          <p:cNvPr id="17440" name="Rectangle 17439"/>
          <p:cNvSpPr/>
          <p:nvPr/>
        </p:nvSpPr>
        <p:spPr>
          <a:xfrm>
            <a:off x="6355080" y="3758184"/>
            <a:ext cx="5257800" cy="65836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6492240" y="3867912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>
                <a:solidFill>
                  <a:srgbClr val="5A5751"/>
                </a:solidFill>
                <a:latin typeface="Times New Roman"/>
              </a:rPr>
              <a:t>The right-hand column states properties the system enforces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>
                <a:solidFill>
                  <a:srgbClr val="5A5751"/>
                </a:solidFill>
                <a:latin typeface="Times New Roman"/>
              </a:rPr>
              <a:t>structurally. They are design guarantees, not measured field results —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>
                <a:solidFill>
                  <a:srgbClr val="5A5751"/>
                </a:solidFill>
                <a:latin typeface="Times New Roman"/>
              </a:rPr>
              <a:t>there is no deployment yet.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6355080" y="4507992"/>
            <a:ext cx="5257800" cy="566928"/>
          </a:xfrm>
          <a:prstGeom prst="rect">
            <a:avLst/>
          </a:prstGeom>
          <a:solidFill>
            <a:srgbClr val="E8F3EC"/>
          </a:solidFill>
          <a:ln w="9525">
            <a:solidFill>
              <a:srgbClr val="1E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6492240" y="4617720"/>
            <a:ext cx="4983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1">
                <a:solidFill>
                  <a:srgbClr val="1E6B3A"/>
                </a:solidFill>
                <a:latin typeface="Times New Roman"/>
              </a:rPr>
              <a:t>Evidenced today: 45 contract tests passing · 3 exploits found in our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1">
                <a:solidFill>
                  <a:srgbClr val="1E6B3A"/>
                </a:solidFill>
                <a:latin typeface="Times New Roman"/>
              </a:rPr>
              <a:t>own code and closed · 4 distinct on-chain refusals demonstrated.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532120" cy="4709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1">
                <a:solidFill>
                  <a:srgbClr val="000000"/>
                </a:solidFill>
                <a:latin typeface="Times New Roman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1F3064"/>
                </a:solidFill>
                <a:latin typeface="Times New Roman"/>
              </a:rPr>
              <a:t>Problem evidence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CAG Audit Report No. 10 of 2024 — Ordnance Factory Board inventory management. cag.gov.in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CAG Audit Report No. 34 — Defence Public Sector Undertakings, stores-in-hand. cag.gov.in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IBM Cost of a Data Breach Report 2025 — India. in.newsroom.ibm.com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Verizon Data Breach Investigations Report 2025. verizon.com/business/resources/reports/dbir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USENIX Security Symposium 2025 — former-employee access retention.</a:t>
            </a:r>
          </a:p>
          <a:p>
            <a:pPr algn="l" indent="0" marL="0">
              <a:spcBef>
                <a:spcPts val="7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1F3064"/>
                </a:solidFill>
                <a:latin typeface="Times New Roman"/>
              </a:rPr>
              <a:t>Technical standards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ERC-721 Non-Fungible Token Standard — eips.ethereum.org/EIPS/eip-721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EIP-712 Typed Structured Data Hashing and Signing — eips.ethereum.org/EIPS/eip-712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OpenZeppelin Contracts v5 — docs.openzeppelin.com/contracts/5.x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NIST SP 800-63-3 Digital Identity Guidelines — pages.nist.gov/800-63-3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OWASP Smart Contract Top 10 — owasp.org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Hyperledger Besu, permissioned EVM — besu.hyperledger.org</a:t>
            </a:r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W3C Decentralized Identifiers v1.0 — w3.org/TR/did-core (reviewed, not claimed)</a:t>
            </a:r>
          </a:p>
          <a:p>
            <a:pPr algn="l" indent="0" marL="0">
              <a:spcBef>
                <a:spcPts val="7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1F3064"/>
                </a:solidFill>
                <a:latin typeface="Times New Roman"/>
              </a:rPr>
              <a:t>Prototype</a:t>
            </a:r>
          </a:p>
          <a:p>
            <a:pPr algn="l" indent="0" marL="0">
              <a:spcAft>
                <a:spcPts val="200"/>
              </a:spcAft>
              <a:buNone/>
            </a:pPr>
            <a:r>
              <a:rPr sz="1050" b="0">
                <a:solidFill>
                  <a:srgbClr val="000000"/>
                </a:solidFill>
                <a:latin typeface="Times New Roman"/>
              </a:rPr>
              <a:t>•  Source, tests, security audit and threat model — github.com/tohraan/chainid-vault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6355080" y="1051560"/>
            <a:ext cx="5257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THE NUMBER THIS IS BUILT ON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6355080" y="1325880"/>
            <a:ext cx="5257800" cy="1600200"/>
          </a:xfrm>
          <a:prstGeom prst="rect">
            <a:avLst/>
          </a:prstGeom>
          <a:solidFill>
            <a:srgbClr val="1F3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08760"/>
            <a:ext cx="5257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4000" b="1">
                <a:solidFill>
                  <a:srgbClr val="FFFFFF"/>
                </a:solidFill>
                <a:latin typeface="Times New Roman"/>
              </a:rPr>
              <a:t>₹1,237 crore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629400" y="2258568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1150" b="0">
                <a:solidFill>
                  <a:srgbClr val="C8CEDC"/>
                </a:solidFill>
                <a:latin typeface="Times New Roman"/>
              </a:rPr>
              <a:t>of non-active stores at the Ordnance Factory Board —</a:t>
            </a:r>
          </a:p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1150" b="0">
                <a:solidFill>
                  <a:srgbClr val="C8CEDC"/>
                </a:solidFill>
                <a:latin typeface="Times New Roman"/>
              </a:rPr>
              <a:t>stock the system could not reconcile.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2990088"/>
            <a:ext cx="525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b="0">
                <a:solidFill>
                  <a:srgbClr val="5A5751"/>
                </a:solidFill>
                <a:latin typeface="Times New Roman"/>
              </a:rPr>
              <a:t>CAG Audit Report No. 10 of 2024, Government of India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355080" y="3383279"/>
            <a:ext cx="52578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537960" y="3502152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A61B1B"/>
                </a:solidFill>
                <a:latin typeface="Times New Roman"/>
              </a:rPr>
              <a:t>AND THE SAME FAILURE, TWO YEARS LATER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355080" y="3749039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>
                <a:solidFill>
                  <a:srgbClr val="A61B1B"/>
                </a:solidFill>
                <a:latin typeface="Times New Roman"/>
              </a:rPr>
              <a:t>21%  ·  ₹330 crore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537960" y="4160520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5A5751"/>
                </a:solidFill>
                <a:latin typeface="Times New Roman"/>
              </a:rPr>
              <a:t>of stores-in-hand still non-active, four sampled factories,</a:t>
            </a:r>
          </a:p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5A5751"/>
                </a:solidFill>
                <a:latin typeface="Times New Roman"/>
              </a:rPr>
              <a:t>31 March 2023 — CAG Report No. 34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6355080" y="4572000"/>
            <a:ext cx="5257800" cy="117043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537960" y="4690872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F3064"/>
                </a:solidFill>
                <a:latin typeface="Times New Roman"/>
              </a:rPr>
              <a:t>WHAT WE DO NOT CLAIM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537960" y="4928616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We have not deployed and cannot claim field results. Every figure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above is the documented problem, not our measured effect. What we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can evidence is a working prototype, 45 passing tests, and three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exploits found in our own code and closed.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338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SAROJ SUNDAR BARAL</cp:lastModifiedBy>
  <cp:revision>148</cp:revision>
  <dcterms:created xsi:type="dcterms:W3CDTF">2013-12-12T18:46:50Z</dcterms:created>
  <dcterms:modified xsi:type="dcterms:W3CDTF">2026-08-25T12:14:39Z</dcterms:modified>
  <cp:category/>
</cp:coreProperties>
</file>